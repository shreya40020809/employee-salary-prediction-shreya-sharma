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33"/>
  </p:notesMasterIdLst>
  <p:handoutMasterIdLst>
    <p:handoutMasterId r:id="rId34"/>
  </p:handoutMasterIdLst>
  <p:sldIdLst>
    <p:sldId id="312" r:id="rId5"/>
    <p:sldId id="304" r:id="rId6"/>
    <p:sldId id="307" r:id="rId7"/>
    <p:sldId id="281" r:id="rId8"/>
    <p:sldId id="323" r:id="rId9"/>
    <p:sldId id="282" r:id="rId10"/>
    <p:sldId id="314" r:id="rId11"/>
    <p:sldId id="315" r:id="rId12"/>
    <p:sldId id="317" r:id="rId13"/>
    <p:sldId id="318" r:id="rId14"/>
    <p:sldId id="319" r:id="rId15"/>
    <p:sldId id="324" r:id="rId16"/>
    <p:sldId id="321" r:id="rId17"/>
    <p:sldId id="322" r:id="rId18"/>
    <p:sldId id="325" r:id="rId19"/>
    <p:sldId id="328" r:id="rId20"/>
    <p:sldId id="326" r:id="rId21"/>
    <p:sldId id="327" r:id="rId22"/>
    <p:sldId id="329" r:id="rId23"/>
    <p:sldId id="336" r:id="rId24"/>
    <p:sldId id="331" r:id="rId25"/>
    <p:sldId id="332" r:id="rId26"/>
    <p:sldId id="333" r:id="rId27"/>
    <p:sldId id="334" r:id="rId28"/>
    <p:sldId id="330" r:id="rId29"/>
    <p:sldId id="337" r:id="rId30"/>
    <p:sldId id="338" r:id="rId31"/>
    <p:sldId id="297" r:id="rId32"/>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388" autoAdjust="0"/>
  </p:normalViewPr>
  <p:slideViewPr>
    <p:cSldViewPr snapToGrid="0" snapToObjects="1">
      <p:cViewPr varScale="1">
        <p:scale>
          <a:sx n="67" d="100"/>
          <a:sy n="67" d="100"/>
        </p:scale>
        <p:origin x="85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hyperlink" Target="https://ngrok.com/" TargetMode="External"/><Relationship Id="rId2" Type="http://schemas.openxmlformats.org/officeDocument/2006/relationships/hyperlink" Target="https://colab.research.google.com/drive/12misWauTsYh0lEk4THN-_Vw4k_TzYZlh#scrollTo=KCP5-6txn4H7" TargetMode="External"/><Relationship Id="rId1" Type="http://schemas.openxmlformats.org/officeDocument/2006/relationships/slideLayout" Target="../slideLayouts/slideLayout12.xml"/><Relationship Id="rId4" Type="http://schemas.openxmlformats.org/officeDocument/2006/relationships/hyperlink" Target="https://scikit-learn.org/stable/"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solidFill>
                  <a:schemeClr val="accent1">
                    <a:lumMod val="75000"/>
                  </a:schemeClr>
                </a:solidFill>
                <a:latin typeface="Arial"/>
                <a:cs typeface="Arial"/>
              </a:rPr>
              <a:t>CAPSTONE PROJECT</a:t>
            </a:r>
            <a:br>
              <a:rPr lang="en-US" dirty="0">
                <a:solidFill>
                  <a:schemeClr val="accent1">
                    <a:lumMod val="75000"/>
                  </a:schemeClr>
                </a:solidFill>
                <a:latin typeface="Arial"/>
                <a:cs typeface="Arial"/>
              </a:rPr>
            </a:br>
            <a:br>
              <a:rPr lang="en-US" dirty="0">
                <a:solidFill>
                  <a:schemeClr val="accent1">
                    <a:lumMod val="75000"/>
                  </a:schemeClr>
                </a:solidFill>
                <a:latin typeface="Arial"/>
                <a:cs typeface="Arial"/>
              </a:rPr>
            </a:br>
            <a:r>
              <a:rPr lang="en-US" dirty="0">
                <a:solidFill>
                  <a:schemeClr val="accent1">
                    <a:lumMod val="10000"/>
                  </a:schemeClr>
                </a:solidFill>
                <a:latin typeface="Arial" panose="020B0604020202020204" pitchFamily="34" charset="0"/>
                <a:cs typeface="Arial" panose="020B0604020202020204" pitchFamily="34" charset="0"/>
              </a:rPr>
              <a:t>EMPLOYEE SALARY PREDICTION USING AI/ML ALGORITHMS</a:t>
            </a:r>
            <a:endParaRPr lang="en-US" dirty="0">
              <a:solidFill>
                <a:schemeClr val="accent1">
                  <a:lumMod val="10000"/>
                </a:schemeClr>
              </a:solidFill>
            </a:endParaRPr>
          </a:p>
        </p:txBody>
      </p:sp>
      <p:sp>
        <p:nvSpPr>
          <p:cNvPr id="3" name="TextBox 2">
            <a:extLst>
              <a:ext uri="{FF2B5EF4-FFF2-40B4-BE49-F238E27FC236}">
                <a16:creationId xmlns:a16="http://schemas.microsoft.com/office/drawing/2014/main" id="{921CCC8E-F327-57ED-9E96-ED0128CA44FA}"/>
              </a:ext>
            </a:extLst>
          </p:cNvPr>
          <p:cNvSpPr txBox="1"/>
          <p:nvPr/>
        </p:nvSpPr>
        <p:spPr>
          <a:xfrm>
            <a:off x="1671638" y="5410498"/>
            <a:ext cx="7463903" cy="1754326"/>
          </a:xfrm>
          <a:prstGeom prst="rect">
            <a:avLst/>
          </a:prstGeom>
          <a:noFill/>
        </p:spPr>
        <p:txBody>
          <a:bodyPr wrap="none" rtlCol="0">
            <a:spAutoFit/>
          </a:bodyPr>
          <a:lstStyle/>
          <a:p>
            <a:r>
              <a:rPr lang="en-US" dirty="0">
                <a:solidFill>
                  <a:schemeClr val="bg1"/>
                </a:solidFill>
              </a:rPr>
              <a:t>PRESENTED BY: SHREYA SHARMA</a:t>
            </a:r>
          </a:p>
          <a:p>
            <a:r>
              <a:rPr lang="en-US" dirty="0">
                <a:solidFill>
                  <a:schemeClr val="bg1"/>
                </a:solidFill>
              </a:rPr>
              <a:t>UNIVERSITY: BANSTHALI VIDYAPITH</a:t>
            </a:r>
          </a:p>
          <a:p>
            <a:r>
              <a:rPr lang="en-US" dirty="0">
                <a:solidFill>
                  <a:schemeClr val="bg1"/>
                </a:solidFill>
              </a:rPr>
              <a:t>DEPARTMENT: B.TECH CS-AI</a:t>
            </a:r>
          </a:p>
          <a:p>
            <a:r>
              <a:rPr lang="en-US" dirty="0">
                <a:solidFill>
                  <a:schemeClr val="bg1"/>
                </a:solidFill>
              </a:rPr>
              <a:t>AICTE Internship Student Registration ID : STU67cf3e7e8c6a71741635198</a:t>
            </a:r>
          </a:p>
          <a:p>
            <a:endParaRPr lang="en-US" dirty="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solidFill>
                  <a:srgbClr val="002060"/>
                </a:solidFill>
                <a:latin typeface="Arial" panose="020B0604020202020204" pitchFamily="34" charset="0"/>
                <a:cs typeface="Arial" panose="020B0604020202020204" pitchFamily="34" charset="0"/>
              </a:rPr>
              <a:t>OUTLINE</a:t>
            </a:r>
            <a:endParaRPr lang="en-US" dirty="0"/>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fontScale="85000" lnSpcReduction="20000"/>
          </a:bodyPr>
          <a:lstStyle/>
          <a:p>
            <a:r>
              <a:rPr lang="en-US" b="1" dirty="0">
                <a:latin typeface="Arial"/>
                <a:ea typeface="+mn-lt"/>
                <a:cs typeface="Arial"/>
              </a:rPr>
              <a:t>  </a:t>
            </a:r>
            <a:endParaRPr lang="en-US" dirty="0">
              <a:latin typeface="Arial"/>
              <a:cs typeface="Arial"/>
            </a:endParaRPr>
          </a:p>
          <a:p>
            <a:pPr marL="305435" indent="-305435"/>
            <a:r>
              <a:rPr lang="en-US" b="1" dirty="0">
                <a:latin typeface="Arial"/>
                <a:ea typeface="+mn-lt"/>
                <a:cs typeface="Arial"/>
              </a:rPr>
              <a:t>Problem Statement</a:t>
            </a:r>
            <a:endParaRPr lang="en-US" dirty="0">
              <a:latin typeface="Arial"/>
              <a:cs typeface="Arial"/>
            </a:endParaRPr>
          </a:p>
          <a:p>
            <a:pPr marL="305435" indent="-305435"/>
            <a:r>
              <a:rPr lang="en-US" b="1" dirty="0">
                <a:latin typeface="Arial"/>
                <a:ea typeface="+mn-lt"/>
                <a:cs typeface="Calibri"/>
              </a:rPr>
              <a:t>System </a:t>
            </a:r>
            <a:r>
              <a:rPr lang="en-US" b="1" dirty="0">
                <a:latin typeface="Arial"/>
                <a:ea typeface="+mn-lt"/>
                <a:cs typeface="+mn-lt"/>
              </a:rPr>
              <a:t>Development Approach </a:t>
            </a:r>
            <a:endParaRPr lang="en-US" dirty="0">
              <a:latin typeface="Arial"/>
              <a:ea typeface="+mn-lt"/>
              <a:cs typeface="+mn-lt"/>
            </a:endParaRPr>
          </a:p>
          <a:p>
            <a:pPr marL="305435" indent="-305435"/>
            <a:r>
              <a:rPr lang="en-US" b="1" dirty="0">
                <a:latin typeface="Arial"/>
                <a:ea typeface="+mn-lt"/>
                <a:cs typeface="+mn-lt"/>
              </a:rPr>
              <a:t>Algorithm &amp; Deployment (Step by Step  Procedure) </a:t>
            </a:r>
            <a:endParaRPr lang="en-US" dirty="0">
              <a:latin typeface="Arial"/>
              <a:cs typeface="Calibri"/>
            </a:endParaRPr>
          </a:p>
          <a:p>
            <a:pPr marL="305435" indent="-305435"/>
            <a:r>
              <a:rPr lang="en-US" b="1" dirty="0">
                <a:latin typeface="Arial"/>
                <a:ea typeface="+mn-lt"/>
                <a:cs typeface="Arial"/>
              </a:rPr>
              <a:t>Result</a:t>
            </a:r>
          </a:p>
          <a:p>
            <a:pPr marL="305435" indent="-305435"/>
            <a:r>
              <a:rPr lang="en-US" b="1" dirty="0">
                <a:latin typeface="Arial"/>
                <a:ea typeface="+mn-lt"/>
                <a:cs typeface="Arial"/>
              </a:rPr>
              <a:t>Conclusion</a:t>
            </a:r>
            <a:endParaRPr lang="en-US" dirty="0">
              <a:latin typeface="Arial"/>
              <a:cs typeface="Arial"/>
            </a:endParaRPr>
          </a:p>
          <a:p>
            <a:pPr marL="305435" indent="-305435"/>
            <a:r>
              <a:rPr lang="en-US" b="1" dirty="0">
                <a:latin typeface="Arial"/>
                <a:ea typeface="+mn-lt"/>
                <a:cs typeface="Arial"/>
              </a:rPr>
              <a:t>Future Scope</a:t>
            </a:r>
          </a:p>
          <a:p>
            <a:pPr marL="305435" indent="-305435"/>
            <a:r>
              <a:rPr lang="en-US"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700088" y="1061623"/>
            <a:ext cx="10725939" cy="595727"/>
          </a:xfrm>
        </p:spPr>
        <p:txBody>
          <a:bodyPr/>
          <a:lstStyle/>
          <a:p>
            <a:r>
              <a:rPr lang="en-US" dirty="0"/>
              <a:t>Problem statement</a:t>
            </a:r>
          </a:p>
        </p:txBody>
      </p:sp>
      <p:sp>
        <p:nvSpPr>
          <p:cNvPr id="5" name="TextBox 4">
            <a:extLst>
              <a:ext uri="{FF2B5EF4-FFF2-40B4-BE49-F238E27FC236}">
                <a16:creationId xmlns:a16="http://schemas.microsoft.com/office/drawing/2014/main" id="{99C24136-CCA9-1799-0F10-880F8E08659A}"/>
              </a:ext>
            </a:extLst>
          </p:cNvPr>
          <p:cNvSpPr txBox="1"/>
          <p:nvPr/>
        </p:nvSpPr>
        <p:spPr>
          <a:xfrm>
            <a:off x="928688" y="2157413"/>
            <a:ext cx="10725939" cy="4154984"/>
          </a:xfrm>
          <a:prstGeom prst="rect">
            <a:avLst/>
          </a:prstGeom>
          <a:noFill/>
        </p:spPr>
        <p:txBody>
          <a:bodyPr wrap="square" rtlCol="0">
            <a:spAutoFit/>
          </a:bodyPr>
          <a:lstStyle/>
          <a:p>
            <a:r>
              <a:rPr lang="en-US" sz="2400" dirty="0"/>
              <a:t>In today's competitive landscape, understanding the factors that influence employee compensation is crucial for various stakeholders. Businesses strive for fair and equitable pay structures, while individuals seek transparency regarding potential earning opportunities. The traditional methods of determining salary often involve subjective assessments, leading to inconsistencies and potential biases. This project addresses the challenge of predicting an individual's income bracket based on their demographic and professional attributes, leveraging advanced AI/ML techniques. Accurate income prediction can facilitate better resource allocation, informed career planning, and more transparent compensation policies.</a:t>
            </a:r>
            <a:endParaRPr lang="en-IN" sz="2400" dirty="0"/>
          </a:p>
          <a:p>
            <a:endParaRPr lang="en-IN" sz="2400" dirty="0"/>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14400" y="1057275"/>
            <a:ext cx="5259554" cy="600075"/>
          </a:xfrm>
        </p:spPr>
        <p:txBody>
          <a:bodyPr/>
          <a:lstStyle/>
          <a:p>
            <a:r>
              <a:rPr lang="en-US" dirty="0">
                <a:solidFill>
                  <a:schemeClr val="tx1"/>
                </a:solidFill>
                <a:latin typeface="Arial"/>
                <a:ea typeface="+mj-lt"/>
                <a:cs typeface="Arial"/>
              </a:rPr>
              <a:t>System  Approach</a:t>
            </a:r>
            <a:endParaRPr lang="en-US" dirty="0">
              <a:solidFill>
                <a:schemeClr val="tx1"/>
              </a:solidFill>
            </a:endParaRP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400" y="2114550"/>
            <a:ext cx="10072688" cy="3927433"/>
          </a:xfrm>
        </p:spPr>
        <p:txBody>
          <a:bodyPr>
            <a:normAutofit/>
          </a:bodyPr>
          <a:lstStyle/>
          <a:p>
            <a:r>
              <a:rPr lang="en-US" sz="3200" dirty="0"/>
              <a:t>The development of the Employee Salary Prediction model followed a structured system approach, leveraging a robust set of open-source technologies. The entire project was implemented in Python, utilizing the Google </a:t>
            </a:r>
            <a:r>
              <a:rPr lang="en-US" sz="3200" dirty="0" err="1"/>
              <a:t>Colab</a:t>
            </a:r>
            <a:r>
              <a:rPr lang="en-US" sz="3200" dirty="0"/>
              <a:t> environment for its interactive capabilities, facilitating iterative development, data exploration, and real-time visualization of results.</a:t>
            </a:r>
          </a:p>
          <a:p>
            <a:endParaRPr lang="en-US" sz="3200" dirty="0"/>
          </a:p>
          <a:p>
            <a:endParaRPr lang="en-US" sz="3200" dirty="0"/>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D9F0-A9FF-AA01-76B9-BB37C766D464}"/>
              </a:ext>
            </a:extLst>
          </p:cNvPr>
          <p:cNvSpPr>
            <a:spLocks noGrp="1"/>
          </p:cNvSpPr>
          <p:nvPr>
            <p:ph type="title"/>
          </p:nvPr>
        </p:nvSpPr>
        <p:spPr>
          <a:xfrm>
            <a:off x="914400" y="1556143"/>
            <a:ext cx="8986838" cy="271463"/>
          </a:xfrm>
        </p:spPr>
        <p:txBody>
          <a:bodyPr/>
          <a:lstStyle/>
          <a:p>
            <a:r>
              <a:rPr lang="en-US" dirty="0"/>
              <a:t>SYSTEM REQUIREMENTS</a:t>
            </a:r>
            <a:br>
              <a:rPr lang="en-US" dirty="0"/>
            </a:br>
            <a:endParaRPr lang="en-IN" dirty="0"/>
          </a:p>
        </p:txBody>
      </p:sp>
      <p:sp>
        <p:nvSpPr>
          <p:cNvPr id="5" name="Rectangle 1">
            <a:extLst>
              <a:ext uri="{FF2B5EF4-FFF2-40B4-BE49-F238E27FC236}">
                <a16:creationId xmlns:a16="http://schemas.microsoft.com/office/drawing/2014/main" id="{0FC39FE9-4DA7-25B7-94B6-EA0D5194319C}"/>
              </a:ext>
            </a:extLst>
          </p:cNvPr>
          <p:cNvSpPr>
            <a:spLocks noGrp="1" noChangeArrowheads="1"/>
          </p:cNvSpPr>
          <p:nvPr>
            <p:ph idx="1"/>
          </p:nvPr>
        </p:nvSpPr>
        <p:spPr bwMode="auto">
          <a:xfrm>
            <a:off x="914400" y="1762427"/>
            <a:ext cx="9615488"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sz="3200" b="1" dirty="0">
                <a:latin typeface="Bahnschrift SemiCondensed" panose="020B0502040204020203" pitchFamily="34" charset="0"/>
              </a:rPr>
              <a:t>Operating System:</a:t>
            </a:r>
            <a:r>
              <a:rPr lang="en-US" sz="3200" dirty="0">
                <a:latin typeface="Bahnschrift SemiCondensed" panose="020B0502040204020203" pitchFamily="34" charset="0"/>
              </a:rPr>
              <a:t> Cloud-based (Google </a:t>
            </a:r>
            <a:r>
              <a:rPr lang="en-US" sz="3200" dirty="0" err="1">
                <a:latin typeface="Bahnschrift SemiCondensed" panose="020B0502040204020203" pitchFamily="34" charset="0"/>
              </a:rPr>
              <a:t>Colab</a:t>
            </a:r>
            <a:r>
              <a:rPr lang="en-US" sz="3200" dirty="0">
                <a:latin typeface="Bahnschrift SemiCondensed" panose="020B0502040204020203" pitchFamily="34" charset="0"/>
              </a:rPr>
              <a:t> environment), with local development on Windows.</a:t>
            </a:r>
          </a:p>
          <a:p>
            <a:pPr lvl="0" eaLnBrk="0" fontAlgn="base" hangingPunct="0">
              <a:spcBef>
                <a:spcPct val="0"/>
              </a:spcBef>
              <a:spcAft>
                <a:spcPct val="0"/>
              </a:spcAft>
              <a:buFontTx/>
              <a:buChar char="•"/>
            </a:pPr>
            <a:r>
              <a:rPr kumimoji="0" lang="en-US" altLang="en-US" sz="3200" b="1" i="0" u="none" strike="noStrike" cap="none" normalizeH="0" baseline="0" dirty="0">
                <a:ln>
                  <a:noFill/>
                </a:ln>
                <a:solidFill>
                  <a:schemeClr val="tx1"/>
                </a:solidFill>
                <a:effectLst/>
                <a:latin typeface="Bahnschrift SemiCondensed" panose="020B0502040204020203" pitchFamily="34" charset="0"/>
              </a:rPr>
              <a:t>Development Environment:</a:t>
            </a:r>
            <a:endParaRPr kumimoji="0" lang="en-US" altLang="en-US" sz="3200" b="0" i="0" u="none" strike="noStrike" cap="none" normalizeH="0" baseline="0" dirty="0">
              <a:ln>
                <a:noFill/>
              </a:ln>
              <a:solidFill>
                <a:schemeClr val="tx1"/>
              </a:solidFill>
              <a:effectLst/>
              <a:latin typeface="Bahnschrift SemiCondensed"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Bahnschrift SemiCondensed" panose="020B0502040204020203" pitchFamily="34" charset="0"/>
              </a:rPr>
              <a:t>Python 3.x (as provided by Google </a:t>
            </a:r>
            <a:r>
              <a:rPr kumimoji="0" lang="en-US" altLang="en-US" sz="3200" b="0" i="0" u="none" strike="noStrike" cap="none" normalizeH="0" baseline="0" dirty="0" err="1">
                <a:ln>
                  <a:noFill/>
                </a:ln>
                <a:solidFill>
                  <a:schemeClr val="tx1"/>
                </a:solidFill>
                <a:effectLst/>
                <a:latin typeface="Bahnschrift SemiCondensed" panose="020B0502040204020203" pitchFamily="34" charset="0"/>
              </a:rPr>
              <a:t>Colab</a:t>
            </a:r>
            <a:r>
              <a:rPr kumimoji="0" lang="en-US" altLang="en-US" sz="3200" b="0" i="0" u="none" strike="noStrike" cap="none" normalizeH="0" baseline="0" dirty="0">
                <a:ln>
                  <a:noFill/>
                </a:ln>
                <a:solidFill>
                  <a:schemeClr val="tx1"/>
                </a:solidFill>
                <a:effectLst/>
                <a:latin typeface="Bahnschrift SemiCondensed" panose="020B0502040204020203"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Bahnschrift SemiCondensed" panose="020B0502040204020203" pitchFamily="34" charset="0"/>
              </a:rPr>
              <a:t>Google </a:t>
            </a:r>
            <a:r>
              <a:rPr kumimoji="0" lang="en-US" altLang="en-US" sz="3200" b="0" i="0" u="none" strike="noStrike" cap="none" normalizeH="0" baseline="0" dirty="0" err="1">
                <a:ln>
                  <a:noFill/>
                </a:ln>
                <a:solidFill>
                  <a:schemeClr val="tx1"/>
                </a:solidFill>
                <a:effectLst/>
                <a:latin typeface="Bahnschrift SemiCondensed" panose="020B0502040204020203" pitchFamily="34" charset="0"/>
              </a:rPr>
              <a:t>Colab</a:t>
            </a:r>
            <a:r>
              <a:rPr kumimoji="0" lang="en-US" altLang="en-US" sz="3200" b="0" i="0" u="none" strike="noStrike" cap="none" normalizeH="0" baseline="0" dirty="0">
                <a:ln>
                  <a:noFill/>
                </a:ln>
                <a:solidFill>
                  <a:schemeClr val="tx1"/>
                </a:solidFill>
                <a:effectLst/>
                <a:latin typeface="Bahnschrift SemiCondensed" panose="020B0502040204020203" pitchFamily="34" charset="0"/>
              </a:rPr>
              <a:t> (primary interactive development platform)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Bahnschrift SemiCondensed" panose="020B0502040204020203" pitchFamily="34" charset="0"/>
              </a:rPr>
              <a:t>Hardware:</a:t>
            </a:r>
            <a:r>
              <a:rPr kumimoji="0" lang="en-US" altLang="en-US" sz="3200" b="0" i="0" u="none" strike="noStrike" cap="none" normalizeH="0" baseline="0" dirty="0">
                <a:ln>
                  <a:noFill/>
                </a:ln>
                <a:solidFill>
                  <a:schemeClr val="tx1"/>
                </a:solidFill>
                <a:effectLst/>
                <a:latin typeface="Bahnschrift SemiCondensed" panose="020B0502040204020203" pitchFamily="34" charset="0"/>
              </a:rPr>
              <a:t> Cloud computing resources (Google </a:t>
            </a:r>
            <a:r>
              <a:rPr kumimoji="0" lang="en-US" altLang="en-US" sz="3200" b="0" i="0" u="none" strike="noStrike" cap="none" normalizeH="0" baseline="0" dirty="0" err="1">
                <a:ln>
                  <a:noFill/>
                </a:ln>
                <a:solidFill>
                  <a:schemeClr val="tx1"/>
                </a:solidFill>
                <a:effectLst/>
                <a:latin typeface="Bahnschrift SemiCondensed" panose="020B0502040204020203" pitchFamily="34" charset="0"/>
              </a:rPr>
              <a:t>Colab</a:t>
            </a:r>
            <a:r>
              <a:rPr kumimoji="0" lang="en-US" altLang="en-US" sz="3200" b="0" i="0" u="none" strike="noStrike" cap="none" normalizeH="0" baseline="0" dirty="0">
                <a:ln>
                  <a:noFill/>
                </a:ln>
                <a:solidFill>
                  <a:schemeClr val="tx1"/>
                </a:solidFill>
                <a:effectLst/>
                <a:latin typeface="Bahnschrift SemiCondensed" panose="020B0502040204020203" pitchFamily="34" charset="0"/>
              </a:rPr>
              <a:t>) or standard PC with at least 8GB RAM for local work.</a:t>
            </a:r>
          </a:p>
        </p:txBody>
      </p:sp>
    </p:spTree>
    <p:extLst>
      <p:ext uri="{BB962C8B-B14F-4D97-AF65-F5344CB8AC3E}">
        <p14:creationId xmlns:p14="http://schemas.microsoft.com/office/powerpoint/2010/main" val="1170714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dirty="0"/>
              <a:t>LIBRARIES USED</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sp>
        <p:nvSpPr>
          <p:cNvPr id="4" name="Rectangle 1">
            <a:extLst>
              <a:ext uri="{FF2B5EF4-FFF2-40B4-BE49-F238E27FC236}">
                <a16:creationId xmlns:a16="http://schemas.microsoft.com/office/drawing/2014/main" id="{36DAD12B-796B-00E5-ACAA-1C043BC6392C}"/>
              </a:ext>
            </a:extLst>
          </p:cNvPr>
          <p:cNvSpPr>
            <a:spLocks noGrp="1" noChangeArrowheads="1"/>
          </p:cNvSpPr>
          <p:nvPr>
            <p:ph sz="half" idx="2"/>
          </p:nvPr>
        </p:nvSpPr>
        <p:spPr bwMode="auto">
          <a:xfrm>
            <a:off x="3460750" y="2782471"/>
            <a:ext cx="739406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Black" panose="020B0A04020102020204" pitchFamily="34" charset="0"/>
              </a:rPr>
              <a:t>pandas (as pd)</a:t>
            </a:r>
            <a:r>
              <a:rPr kumimoji="0" lang="en-US" altLang="en-US" b="0" i="0" u="none" strike="noStrike" cap="none" normalizeH="0" baseline="0" dirty="0">
                <a:ln>
                  <a:noFill/>
                </a:ln>
                <a:solidFill>
                  <a:schemeClr val="tx1"/>
                </a:solidFill>
                <a:effectLst/>
                <a:latin typeface="Arial Black" panose="020B0A040201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Black" panose="020B0A04020102020204" pitchFamily="34" charset="0"/>
              </a:rPr>
              <a:t>Purpose</a:t>
            </a:r>
            <a:r>
              <a:rPr kumimoji="0" lang="en-US" altLang="en-US" b="0" i="0" u="none" strike="noStrike" cap="none" normalizeH="0" baseline="0" dirty="0">
                <a:ln>
                  <a:noFill/>
                </a:ln>
                <a:solidFill>
                  <a:schemeClr val="tx1"/>
                </a:solidFill>
                <a:effectLst/>
                <a:latin typeface="Arial Black" panose="020B0A04020102020204" pitchFamily="34" charset="0"/>
              </a:rPr>
              <a:t>: A fundamental data manipulation and analysis library for Python. It provides data structures like </a:t>
            </a:r>
            <a:r>
              <a:rPr kumimoji="0" lang="en-US" altLang="en-US" b="0" i="0" u="none" strike="noStrike" cap="none" normalizeH="0" baseline="0" dirty="0" err="1">
                <a:ln>
                  <a:noFill/>
                </a:ln>
                <a:solidFill>
                  <a:schemeClr val="tx1"/>
                </a:solidFill>
                <a:effectLst/>
                <a:latin typeface="Arial Black" panose="020B0A04020102020204" pitchFamily="34" charset="0"/>
              </a:rPr>
              <a:t>DataFrames</a:t>
            </a:r>
            <a:r>
              <a:rPr kumimoji="0" lang="en-US" altLang="en-US" b="0" i="0" u="none" strike="noStrike" cap="none" normalizeH="0" baseline="0" dirty="0">
                <a:ln>
                  <a:noFill/>
                </a:ln>
                <a:solidFill>
                  <a:schemeClr val="tx1"/>
                </a:solidFill>
                <a:effectLst/>
                <a:latin typeface="Arial Black" panose="020B0A04020102020204" pitchFamily="34" charset="0"/>
              </a:rPr>
              <a:t> that are essential for working with tabular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Black" panose="020B0A04020102020204" pitchFamily="34" charset="0"/>
              </a:rPr>
              <a:t>Usage in code</a:t>
            </a:r>
            <a:r>
              <a:rPr kumimoji="0" lang="en-US" altLang="en-US" b="0" i="0" u="none" strike="noStrike" cap="none" normalizeH="0" baseline="0" dirty="0">
                <a:ln>
                  <a:noFill/>
                </a:ln>
                <a:solidFill>
                  <a:schemeClr val="tx1"/>
                </a:solidFill>
                <a:effectLst/>
                <a:latin typeface="Arial Black" panose="020B0A04020102020204" pitchFamily="34" charset="0"/>
              </a:rPr>
              <a:t>: Used for loading your adult 3.csv dataset (</a:t>
            </a:r>
            <a:r>
              <a:rPr kumimoji="0" lang="en-US" altLang="en-US" b="0" i="0" u="none" strike="noStrike" cap="none" normalizeH="0" baseline="0" dirty="0" err="1">
                <a:ln>
                  <a:noFill/>
                </a:ln>
                <a:solidFill>
                  <a:schemeClr val="tx1"/>
                </a:solidFill>
                <a:effectLst/>
                <a:latin typeface="Arial Black" panose="020B0A04020102020204" pitchFamily="34" charset="0"/>
              </a:rPr>
              <a:t>pd.read_csv</a:t>
            </a:r>
            <a:r>
              <a:rPr kumimoji="0" lang="en-US" altLang="en-US" b="0" i="0" u="none" strike="noStrike" cap="none" normalizeH="0" baseline="0" dirty="0">
                <a:ln>
                  <a:noFill/>
                </a:ln>
                <a:solidFill>
                  <a:schemeClr val="tx1"/>
                </a:solidFill>
                <a:effectLst/>
                <a:latin typeface="Arial Black" panose="020B0A04020102020204" pitchFamily="34" charset="0"/>
              </a:rPr>
              <a:t>), displaying data (</a:t>
            </a:r>
            <a:r>
              <a:rPr kumimoji="0" lang="en-US" altLang="en-US" b="0" i="0" u="none" strike="noStrike" cap="none" normalizeH="0" baseline="0" dirty="0" err="1">
                <a:ln>
                  <a:noFill/>
                </a:ln>
                <a:solidFill>
                  <a:schemeClr val="tx1"/>
                </a:solidFill>
                <a:effectLst/>
                <a:latin typeface="Arial Black" panose="020B0A04020102020204" pitchFamily="34" charset="0"/>
              </a:rPr>
              <a:t>data.head</a:t>
            </a:r>
            <a:r>
              <a:rPr kumimoji="0" lang="en-US" altLang="en-US" b="0" i="0" u="none" strike="noStrike" cap="none" normalizeH="0" baseline="0" dirty="0">
                <a:ln>
                  <a:noFill/>
                </a:ln>
                <a:solidFill>
                  <a:schemeClr val="tx1"/>
                </a:solidFill>
                <a:effectLst/>
                <a:latin typeface="Arial Black" panose="020B0A04020102020204" pitchFamily="34" charset="0"/>
              </a:rPr>
              <a:t>(), </a:t>
            </a:r>
            <a:r>
              <a:rPr kumimoji="0" lang="en-US" altLang="en-US" b="0" i="0" u="none" strike="noStrike" cap="none" normalizeH="0" baseline="0" dirty="0" err="1">
                <a:ln>
                  <a:noFill/>
                </a:ln>
                <a:solidFill>
                  <a:schemeClr val="tx1"/>
                </a:solidFill>
                <a:effectLst/>
                <a:latin typeface="Arial Black" panose="020B0A04020102020204" pitchFamily="34" charset="0"/>
              </a:rPr>
              <a:t>data.shape</a:t>
            </a:r>
            <a:r>
              <a:rPr kumimoji="0" lang="en-US" altLang="en-US" b="0" i="0" u="none" strike="noStrike" cap="none" normalizeH="0" baseline="0" dirty="0">
                <a:ln>
                  <a:noFill/>
                </a:ln>
                <a:solidFill>
                  <a:schemeClr val="tx1"/>
                </a:solidFill>
                <a:effectLst/>
                <a:latin typeface="Arial Black" panose="020B0A04020102020204" pitchFamily="34" charset="0"/>
              </a:rPr>
              <a:t>), handling missing values (</a:t>
            </a:r>
            <a:r>
              <a:rPr kumimoji="0" lang="en-US" altLang="en-US" b="0" i="0" u="none" strike="noStrike" cap="none" normalizeH="0" baseline="0" dirty="0" err="1">
                <a:ln>
                  <a:noFill/>
                </a:ln>
                <a:solidFill>
                  <a:schemeClr val="tx1"/>
                </a:solidFill>
                <a:effectLst/>
                <a:latin typeface="Arial Black" panose="020B0A04020102020204" pitchFamily="34" charset="0"/>
              </a:rPr>
              <a:t>data.isna</a:t>
            </a:r>
            <a:r>
              <a:rPr kumimoji="0" lang="en-US" altLang="en-US" b="0" i="0" u="none" strike="noStrike" cap="none" normalizeH="0" baseline="0" dirty="0">
                <a:ln>
                  <a:noFill/>
                </a:ln>
                <a:solidFill>
                  <a:schemeClr val="tx1"/>
                </a:solidFill>
                <a:effectLst/>
                <a:latin typeface="Arial Black" panose="020B0A04020102020204" pitchFamily="34" charset="0"/>
              </a:rPr>
              <a:t>().sum(), </a:t>
            </a:r>
            <a:r>
              <a:rPr kumimoji="0" lang="en-US" altLang="en-US" b="0" i="0" u="none" strike="noStrike" cap="none" normalizeH="0" baseline="0" dirty="0" err="1">
                <a:ln>
                  <a:noFill/>
                </a:ln>
                <a:solidFill>
                  <a:schemeClr val="tx1"/>
                </a:solidFill>
                <a:effectLst/>
                <a:latin typeface="Arial Black" panose="020B0A04020102020204" pitchFamily="34" charset="0"/>
              </a:rPr>
              <a:t>data.workclass.replace</a:t>
            </a:r>
            <a:r>
              <a:rPr kumimoji="0" lang="en-US" altLang="en-US" b="0" i="0" u="none" strike="noStrike" cap="none" normalizeH="0" baseline="0" dirty="0">
                <a:ln>
                  <a:noFill/>
                </a:ln>
                <a:solidFill>
                  <a:schemeClr val="tx1"/>
                </a:solidFill>
                <a:effectLst/>
                <a:latin typeface="Arial Black" panose="020B0A04020102020204" pitchFamily="34" charset="0"/>
              </a:rPr>
              <a:t>()), and performing various data transformations.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5681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sp>
        <p:nvSpPr>
          <p:cNvPr id="5" name="Rectangle 1">
            <a:extLst>
              <a:ext uri="{FF2B5EF4-FFF2-40B4-BE49-F238E27FC236}">
                <a16:creationId xmlns:a16="http://schemas.microsoft.com/office/drawing/2014/main" id="{2338DB6E-28BB-CBFD-A498-1443DFE122D6}"/>
              </a:ext>
            </a:extLst>
          </p:cNvPr>
          <p:cNvSpPr>
            <a:spLocks noGrp="1" noChangeArrowheads="1"/>
          </p:cNvSpPr>
          <p:nvPr>
            <p:ph idx="11"/>
          </p:nvPr>
        </p:nvSpPr>
        <p:spPr bwMode="auto">
          <a:xfrm>
            <a:off x="3857625" y="264181"/>
            <a:ext cx="7690362" cy="59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err="1">
                <a:ln>
                  <a:noFill/>
                </a:ln>
                <a:solidFill>
                  <a:schemeClr val="tx1"/>
                </a:solidFill>
                <a:effectLst/>
                <a:latin typeface="Arial Black" panose="020B0A04020102020204" pitchFamily="34" charset="0"/>
              </a:rPr>
              <a:t>matplotlib.pyplot</a:t>
            </a:r>
            <a:r>
              <a:rPr kumimoji="0" lang="en-US" altLang="en-US" sz="2800" b="1" i="0" u="none" strike="noStrike" cap="none" normalizeH="0" baseline="0" dirty="0">
                <a:ln>
                  <a:noFill/>
                </a:ln>
                <a:solidFill>
                  <a:schemeClr val="tx1"/>
                </a:solidFill>
                <a:effectLst/>
                <a:latin typeface="Arial Black" panose="020B0A04020102020204" pitchFamily="34" charset="0"/>
              </a:rPr>
              <a:t> (as </a:t>
            </a:r>
            <a:r>
              <a:rPr kumimoji="0" lang="en-US" altLang="en-US" sz="2800" b="1" i="0" u="none" strike="noStrike" cap="none" normalizeH="0" baseline="0" dirty="0" err="1">
                <a:ln>
                  <a:noFill/>
                </a:ln>
                <a:solidFill>
                  <a:schemeClr val="tx1"/>
                </a:solidFill>
                <a:effectLst/>
                <a:latin typeface="Arial Black" panose="020B0A04020102020204" pitchFamily="34" charset="0"/>
              </a:rPr>
              <a:t>plt</a:t>
            </a:r>
            <a:r>
              <a:rPr kumimoji="0" lang="en-US" altLang="en-US" sz="2800" b="1" i="0" u="none" strike="noStrike" cap="none" normalizeH="0" baseline="0" dirty="0">
                <a:ln>
                  <a:noFill/>
                </a:ln>
                <a:solidFill>
                  <a:schemeClr val="tx1"/>
                </a:solidFill>
                <a:effectLst/>
                <a:latin typeface="Arial Black" panose="020B0A04020102020204" pitchFamily="34" charset="0"/>
              </a:rPr>
              <a:t>)</a:t>
            </a:r>
            <a:r>
              <a:rPr kumimoji="0" lang="en-US" altLang="en-US" sz="2800" b="0" i="0" u="none" strike="noStrike" cap="none" normalizeH="0" baseline="0" dirty="0">
                <a:ln>
                  <a:noFill/>
                </a:ln>
                <a:solidFill>
                  <a:schemeClr val="tx1"/>
                </a:solidFill>
                <a:effectLst/>
                <a:latin typeface="Arial Black" panose="020B0A040201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Black" panose="020B0A04020102020204" pitchFamily="34" charset="0"/>
              </a:rPr>
              <a:t>Purpose</a:t>
            </a:r>
            <a:r>
              <a:rPr kumimoji="0" lang="en-US" altLang="en-US" sz="2800" b="0" i="0" u="none" strike="noStrike" cap="none" normalizeH="0" baseline="0" dirty="0">
                <a:ln>
                  <a:noFill/>
                </a:ln>
                <a:solidFill>
                  <a:schemeClr val="tx1"/>
                </a:solidFill>
                <a:effectLst/>
                <a:latin typeface="Arial Black" panose="020B0A04020102020204" pitchFamily="34" charset="0"/>
              </a:rPr>
              <a:t>: A comprehensive library for creating static, interactive, and animated visualizations in Python. It's the base for many other plotting libraries.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Black" panose="020B0A04020102020204" pitchFamily="34" charset="0"/>
              </a:rPr>
              <a:t>Usage i</a:t>
            </a:r>
            <a:r>
              <a:rPr lang="en-US" altLang="en-US" sz="2800" b="1" dirty="0">
                <a:solidFill>
                  <a:schemeClr val="tx1"/>
                </a:solidFill>
                <a:latin typeface="Arial Black" panose="020B0A04020102020204" pitchFamily="34" charset="0"/>
              </a:rPr>
              <a:t>n</a:t>
            </a:r>
            <a:r>
              <a:rPr kumimoji="0" lang="en-US" altLang="en-US" sz="2800" b="1" i="0" u="none" strike="noStrike" cap="none" normalizeH="0" baseline="0" dirty="0">
                <a:ln>
                  <a:noFill/>
                </a:ln>
                <a:solidFill>
                  <a:schemeClr val="tx1"/>
                </a:solidFill>
                <a:effectLst/>
                <a:latin typeface="Arial Black" panose="020B0A04020102020204" pitchFamily="34" charset="0"/>
              </a:rPr>
              <a:t> code</a:t>
            </a:r>
            <a:r>
              <a:rPr kumimoji="0" lang="en-US" altLang="en-US" sz="2800" b="0" i="0" u="none" strike="noStrike" cap="none" normalizeH="0" baseline="0" dirty="0">
                <a:ln>
                  <a:noFill/>
                </a:ln>
                <a:solidFill>
                  <a:schemeClr val="tx1"/>
                </a:solidFill>
                <a:effectLst/>
                <a:latin typeface="Arial Black" panose="020B0A04020102020204" pitchFamily="34" charset="0"/>
              </a:rPr>
              <a:t>: Used for creating basic plots, often in conjunction with seaborn, to visualize data distributions or model results (though specific plot calls for </a:t>
            </a:r>
            <a:r>
              <a:rPr kumimoji="0" lang="en-US" altLang="en-US" sz="2800" b="0" i="0" u="none" strike="noStrike" cap="none" normalizeH="0" baseline="0" dirty="0" err="1">
                <a:ln>
                  <a:noFill/>
                </a:ln>
                <a:solidFill>
                  <a:schemeClr val="tx1"/>
                </a:solidFill>
                <a:effectLst/>
                <a:latin typeface="Arial Black" panose="020B0A04020102020204" pitchFamily="34" charset="0"/>
              </a:rPr>
              <a:t>plt</a:t>
            </a:r>
            <a:r>
              <a:rPr kumimoji="0" lang="en-US" altLang="en-US" sz="2800" b="0" i="0" u="none" strike="noStrike" cap="none" normalizeH="0" baseline="0" dirty="0">
                <a:ln>
                  <a:noFill/>
                </a:ln>
                <a:solidFill>
                  <a:schemeClr val="tx1"/>
                </a:solidFill>
                <a:effectLst/>
                <a:latin typeface="Arial Black" panose="020B0A04020102020204" pitchFamily="34" charset="0"/>
              </a:rPr>
              <a:t> alone might be implicit or part of commented-out </a:t>
            </a:r>
            <a:r>
              <a:rPr kumimoji="0" lang="en-US" altLang="en-US" sz="2800" b="0" i="0" u="none" strike="noStrike" cap="none" normalizeH="0" baseline="0" dirty="0" err="1">
                <a:ln>
                  <a:noFill/>
                </a:ln>
                <a:solidFill>
                  <a:schemeClr val="tx1"/>
                </a:solidFill>
                <a:effectLst/>
                <a:latin typeface="Arial Black" panose="020B0A04020102020204" pitchFamily="34" charset="0"/>
              </a:rPr>
              <a:t>Streamlit</a:t>
            </a:r>
            <a:r>
              <a:rPr kumimoji="0" lang="en-US" altLang="en-US" sz="2800" b="0" i="0" u="none" strike="noStrike" cap="none" normalizeH="0" baseline="0" dirty="0">
                <a:ln>
                  <a:noFill/>
                </a:ln>
                <a:solidFill>
                  <a:schemeClr val="tx1"/>
                </a:solidFill>
                <a:effectLst/>
                <a:latin typeface="Arial Black" panose="020B0A04020102020204" pitchFamily="34" charset="0"/>
              </a:rPr>
              <a:t> sections).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3171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8</a:t>
            </a:fld>
            <a:endParaRPr lang="en-US" dirty="0"/>
          </a:p>
        </p:txBody>
      </p:sp>
      <p:sp>
        <p:nvSpPr>
          <p:cNvPr id="4" name="Rectangle 1">
            <a:extLst>
              <a:ext uri="{FF2B5EF4-FFF2-40B4-BE49-F238E27FC236}">
                <a16:creationId xmlns:a16="http://schemas.microsoft.com/office/drawing/2014/main" id="{857B7209-BDAB-AA5A-FC76-261494079770}"/>
              </a:ext>
            </a:extLst>
          </p:cNvPr>
          <p:cNvSpPr>
            <a:spLocks noGrp="1" noChangeArrowheads="1"/>
          </p:cNvSpPr>
          <p:nvPr>
            <p:ph sz="half" idx="2"/>
          </p:nvPr>
        </p:nvSpPr>
        <p:spPr bwMode="auto">
          <a:xfrm>
            <a:off x="414336" y="391055"/>
            <a:ext cx="421481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Black" panose="020B0A04020102020204" pitchFamily="34" charset="0"/>
              </a:rPr>
              <a:t>seaborn (as </a:t>
            </a:r>
            <a:r>
              <a:rPr kumimoji="0" lang="en-US" altLang="en-US" sz="2000" b="1" i="0" u="none" strike="noStrike" cap="none" normalizeH="0" baseline="0" dirty="0" err="1">
                <a:ln>
                  <a:noFill/>
                </a:ln>
                <a:solidFill>
                  <a:schemeClr val="tx1"/>
                </a:solidFill>
                <a:effectLst/>
                <a:latin typeface="Arial Black" panose="020B0A04020102020204" pitchFamily="34" charset="0"/>
              </a:rPr>
              <a:t>sns</a:t>
            </a:r>
            <a:r>
              <a:rPr kumimoji="0" lang="en-US" altLang="en-US" sz="2000" b="1" i="0" u="none" strike="noStrike" cap="none" normalizeH="0" baseline="0" dirty="0">
                <a:ln>
                  <a:noFill/>
                </a:ln>
                <a:solidFill>
                  <a:schemeClr val="tx1"/>
                </a:solidFill>
                <a:effectLst/>
                <a:latin typeface="Arial Black" panose="020B0A04020102020204" pitchFamily="34" charset="0"/>
              </a:rPr>
              <a:t>)</a:t>
            </a:r>
            <a:r>
              <a:rPr kumimoji="0" lang="en-US" altLang="en-US" sz="2000" b="0" i="0" u="none" strike="noStrike" cap="none" normalizeH="0" baseline="0" dirty="0">
                <a:ln>
                  <a:noFill/>
                </a:ln>
                <a:solidFill>
                  <a:schemeClr val="tx1"/>
                </a:solidFill>
                <a:effectLst/>
                <a:latin typeface="Arial Black" panose="020B0A040201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Black" panose="020B0A04020102020204" pitchFamily="34" charset="0"/>
              </a:rPr>
              <a:t>Purpose</a:t>
            </a:r>
            <a:r>
              <a:rPr kumimoji="0" lang="en-US" altLang="en-US" sz="2000" b="0" i="0" u="none" strike="noStrike" cap="none" normalizeH="0" baseline="0" dirty="0">
                <a:ln>
                  <a:noFill/>
                </a:ln>
                <a:solidFill>
                  <a:schemeClr val="tx1"/>
                </a:solidFill>
                <a:effectLst/>
                <a:latin typeface="Arial Black" panose="020B0A04020102020204" pitchFamily="34" charset="0"/>
              </a:rPr>
              <a:t>: A data visualization library based on matplotlib that provides a high-level interface for drawing attractive and informative statistical graphics. It simplifies the creation of complex plots.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Black" panose="020B0A04020102020204" pitchFamily="34" charset="0"/>
              </a:rPr>
              <a:t>Usage in  code</a:t>
            </a:r>
            <a:r>
              <a:rPr kumimoji="0" lang="en-US" altLang="en-US" sz="2000" b="0" i="0" u="none" strike="noStrike" cap="none" normalizeH="0" baseline="0" dirty="0">
                <a:ln>
                  <a:noFill/>
                </a:ln>
                <a:solidFill>
                  <a:schemeClr val="tx1"/>
                </a:solidFill>
                <a:effectLst/>
                <a:latin typeface="Arial Black" panose="020B0A04020102020204" pitchFamily="34" charset="0"/>
              </a:rPr>
              <a:t>: Used for statistical plots like histograms or boxplots to understand data distributions and identify outliers (e.g., as discussed for </a:t>
            </a:r>
            <a:r>
              <a:rPr kumimoji="0" lang="en-US" altLang="en-US" sz="2000" b="0" i="0" u="none" strike="noStrike" cap="none" normalizeH="0" baseline="0" dirty="0" err="1">
                <a:ln>
                  <a:noFill/>
                </a:ln>
                <a:solidFill>
                  <a:schemeClr val="tx1"/>
                </a:solidFill>
                <a:effectLst/>
                <a:latin typeface="Arial Black" panose="020B0A04020102020204" pitchFamily="34" charset="0"/>
              </a:rPr>
              <a:t>fnlwgt</a:t>
            </a:r>
            <a:r>
              <a:rPr kumimoji="0" lang="en-US" altLang="en-US" sz="2000" b="0" i="0" u="none" strike="noStrike" cap="none" normalizeH="0" baseline="0" dirty="0">
                <a:ln>
                  <a:noFill/>
                </a:ln>
                <a:solidFill>
                  <a:schemeClr val="tx1"/>
                </a:solidFill>
                <a:effectLst/>
                <a:latin typeface="Arial Black" panose="020B0A04020102020204" pitchFamily="34" charset="0"/>
              </a:rPr>
              <a:t> and hours-per-week previously).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Black" panose="020B0A04020102020204" pitchFamily="34" charset="0"/>
            </a:endParaRPr>
          </a:p>
        </p:txBody>
      </p:sp>
      <p:sp>
        <p:nvSpPr>
          <p:cNvPr id="5" name="Rectangle 2">
            <a:extLst>
              <a:ext uri="{FF2B5EF4-FFF2-40B4-BE49-F238E27FC236}">
                <a16:creationId xmlns:a16="http://schemas.microsoft.com/office/drawing/2014/main" id="{CAD8369C-7360-ADF6-A69F-5B77E5279D2A}"/>
              </a:ext>
            </a:extLst>
          </p:cNvPr>
          <p:cNvSpPr>
            <a:spLocks noGrp="1" noChangeArrowheads="1"/>
          </p:cNvSpPr>
          <p:nvPr>
            <p:ph sz="quarter" idx="4"/>
          </p:nvPr>
        </p:nvSpPr>
        <p:spPr bwMode="auto">
          <a:xfrm>
            <a:off x="5238750" y="164813"/>
            <a:ext cx="5199725"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mj-lt"/>
              </a:rPr>
              <a:t>numpy</a:t>
            </a:r>
            <a:r>
              <a:rPr kumimoji="0" lang="en-US" altLang="en-US" sz="2000" b="1" i="0" u="none" strike="noStrike" cap="none" normalizeH="0" baseline="0" dirty="0">
                <a:ln>
                  <a:noFill/>
                </a:ln>
                <a:solidFill>
                  <a:schemeClr val="tx1"/>
                </a:solidFill>
                <a:effectLst/>
                <a:latin typeface="+mj-lt"/>
              </a:rPr>
              <a:t> (as np)</a:t>
            </a:r>
            <a:r>
              <a:rPr kumimoji="0" lang="en-US" altLang="en-US" sz="20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Purpose</a:t>
            </a:r>
            <a:r>
              <a:rPr kumimoji="0" lang="en-US" altLang="en-US" sz="2000" b="0" i="0" u="none" strike="noStrike" cap="none" normalizeH="0" baseline="0" dirty="0">
                <a:ln>
                  <a:noFill/>
                </a:ln>
                <a:solidFill>
                  <a:schemeClr val="tx1"/>
                </a:solidFill>
                <a:effectLst/>
                <a:latin typeface="+mj-lt"/>
              </a:rPr>
              <a:t>: The fundamental package for numerical computing in Python. It provides support for large, multi-dimensional arrays and matrices, along with a large collection of high-level mathematical functions to operate on these arrays.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Usage in code</a:t>
            </a:r>
            <a:r>
              <a:rPr kumimoji="0" lang="en-US" altLang="en-US" sz="2000" b="0" i="0" u="none" strike="noStrike" cap="none" normalizeH="0" baseline="0" dirty="0">
                <a:ln>
                  <a:noFill/>
                </a:ln>
                <a:solidFill>
                  <a:schemeClr val="tx1"/>
                </a:solidFill>
                <a:effectLst/>
                <a:latin typeface="+mj-lt"/>
              </a:rPr>
              <a:t>: Although not explicitly imported at the very top of employee.py in the snippet provided, </a:t>
            </a:r>
            <a:r>
              <a:rPr kumimoji="0" lang="en-US" altLang="en-US" sz="2000" b="0" i="0" u="none" strike="noStrike" cap="none" normalizeH="0" baseline="0" dirty="0" err="1">
                <a:ln>
                  <a:noFill/>
                </a:ln>
                <a:solidFill>
                  <a:schemeClr val="tx1"/>
                </a:solidFill>
                <a:effectLst/>
                <a:latin typeface="+mj-lt"/>
              </a:rPr>
              <a:t>numpy</a:t>
            </a:r>
            <a:r>
              <a:rPr kumimoji="0" lang="en-US" altLang="en-US" sz="2000" b="0" i="0" u="none" strike="noStrike" cap="none" normalizeH="0" baseline="0" dirty="0">
                <a:ln>
                  <a:noFill/>
                </a:ln>
                <a:solidFill>
                  <a:schemeClr val="tx1"/>
                </a:solidFill>
                <a:effectLst/>
                <a:latin typeface="+mj-lt"/>
              </a:rPr>
              <a:t> functions like </a:t>
            </a:r>
            <a:r>
              <a:rPr kumimoji="0" lang="en-US" altLang="en-US" sz="2000" b="0" i="0" u="none" strike="noStrike" cap="none" normalizeH="0" baseline="0" dirty="0" err="1">
                <a:ln>
                  <a:noFill/>
                </a:ln>
                <a:solidFill>
                  <a:schemeClr val="tx1"/>
                </a:solidFill>
                <a:effectLst/>
                <a:latin typeface="+mj-lt"/>
              </a:rPr>
              <a:t>np.nan</a:t>
            </a:r>
            <a:r>
              <a:rPr kumimoji="0" lang="en-US" altLang="en-US" sz="2000" b="0" i="0" u="none" strike="noStrike" cap="none" normalizeH="0" baseline="0" dirty="0">
                <a:ln>
                  <a:noFill/>
                </a:ln>
                <a:solidFill>
                  <a:schemeClr val="tx1"/>
                </a:solidFill>
                <a:effectLst/>
                <a:latin typeface="+mj-lt"/>
              </a:rPr>
              <a:t> are commonly used with pandas for missing value handling, so it's often implicitly or explicitly imported in a full ML pipeline. If </a:t>
            </a:r>
            <a:r>
              <a:rPr kumimoji="0" lang="en-US" altLang="en-US" sz="2000" b="0" i="0" u="none" strike="noStrike" cap="none" normalizeH="0" baseline="0" dirty="0" err="1">
                <a:ln>
                  <a:noFill/>
                </a:ln>
                <a:solidFill>
                  <a:schemeClr val="tx1"/>
                </a:solidFill>
                <a:effectLst/>
                <a:latin typeface="+mj-lt"/>
              </a:rPr>
              <a:t>np.nan</a:t>
            </a:r>
            <a:r>
              <a:rPr kumimoji="0" lang="en-US" altLang="en-US" sz="2000" b="0" i="0" u="none" strike="noStrike" cap="none" normalizeH="0" baseline="0" dirty="0">
                <a:ln>
                  <a:noFill/>
                </a:ln>
                <a:solidFill>
                  <a:schemeClr val="tx1"/>
                </a:solidFill>
                <a:effectLst/>
                <a:latin typeface="+mj-lt"/>
              </a:rPr>
              <a:t> is used, then import </a:t>
            </a:r>
            <a:r>
              <a:rPr kumimoji="0" lang="en-US" altLang="en-US" sz="2000" b="0" i="0" u="none" strike="noStrike" cap="none" normalizeH="0" baseline="0" dirty="0" err="1">
                <a:ln>
                  <a:noFill/>
                </a:ln>
                <a:solidFill>
                  <a:schemeClr val="tx1"/>
                </a:solidFill>
                <a:effectLst/>
                <a:latin typeface="+mj-lt"/>
              </a:rPr>
              <a:t>numpy</a:t>
            </a:r>
            <a:r>
              <a:rPr kumimoji="0" lang="en-US" altLang="en-US" sz="2000" b="0" i="0" u="none" strike="noStrike" cap="none" normalizeH="0" baseline="0" dirty="0">
                <a:ln>
                  <a:noFill/>
                </a:ln>
                <a:solidFill>
                  <a:schemeClr val="tx1"/>
                </a:solidFill>
                <a:effectLst/>
                <a:latin typeface="+mj-lt"/>
              </a:rPr>
              <a:t> as np is necessary.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68595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
        <p:nvSpPr>
          <p:cNvPr id="6" name="Rectangle 1">
            <a:extLst>
              <a:ext uri="{FF2B5EF4-FFF2-40B4-BE49-F238E27FC236}">
                <a16:creationId xmlns:a16="http://schemas.microsoft.com/office/drawing/2014/main" id="{8A53A77E-4443-829E-695A-9CE37F211B22}"/>
              </a:ext>
            </a:extLst>
          </p:cNvPr>
          <p:cNvSpPr>
            <a:spLocks noGrp="1" noChangeArrowheads="1"/>
          </p:cNvSpPr>
          <p:nvPr>
            <p:ph sz="half" idx="1"/>
          </p:nvPr>
        </p:nvSpPr>
        <p:spPr bwMode="auto">
          <a:xfrm>
            <a:off x="428624" y="532138"/>
            <a:ext cx="9792007"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rPr>
              <a:t>sklearn</a:t>
            </a:r>
            <a:r>
              <a:rPr kumimoji="0" lang="en-US" altLang="en-US" sz="2000" b="1" i="0" u="none" strike="noStrike" cap="none" normalizeH="0" baseline="0" dirty="0">
                <a:ln>
                  <a:noFill/>
                </a:ln>
                <a:solidFill>
                  <a:schemeClr val="tx1"/>
                </a:solidFill>
                <a:effectLst/>
              </a:rPr>
              <a:t> (Scikit-learn modules)</a:t>
            </a:r>
            <a:r>
              <a:rPr kumimoji="0" lang="en-US" altLang="en-US" sz="2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Purpose</a:t>
            </a:r>
            <a:r>
              <a:rPr kumimoji="0" lang="en-US" altLang="en-US" sz="2000" b="0" i="0" u="none" strike="noStrike" cap="none" normalizeH="0" baseline="0" dirty="0">
                <a:ln>
                  <a:noFill/>
                </a:ln>
                <a:solidFill>
                  <a:schemeClr val="tx1"/>
                </a:solidFill>
                <a:effectLst/>
              </a:rPr>
              <a:t>: A powerful and widely used machine learning library for Python. It provides a wide range of algorithms for classification, regression, clustering, dimensionality reduction, and tools for model selection and preprocessing.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Usage in code</a:t>
            </a:r>
            <a:r>
              <a:rPr kumimoji="0" lang="en-US" altLang="en-US" sz="2000" b="0" i="0" u="none" strike="noStrike" cap="none" normalizeH="0" baseline="0" dirty="0">
                <a:ln>
                  <a:noFill/>
                </a:ln>
                <a:solidFill>
                  <a:schemeClr val="tx1"/>
                </a:solidFill>
                <a:effectLst/>
              </a:rPr>
              <a:t>: While the employee.py snippet doesn't show explicit </a:t>
            </a:r>
            <a:r>
              <a:rPr kumimoji="0" lang="en-US" altLang="en-US" sz="2000" b="0" i="0" u="none" strike="noStrike" cap="none" normalizeH="0" baseline="0" dirty="0" err="1">
                <a:ln>
                  <a:noFill/>
                </a:ln>
                <a:solidFill>
                  <a:schemeClr val="tx1"/>
                </a:solidFill>
                <a:effectLst/>
              </a:rPr>
              <a:t>sklearn</a:t>
            </a:r>
            <a:r>
              <a:rPr kumimoji="0" lang="en-US" altLang="en-US" sz="2000" b="0" i="0" u="none" strike="noStrike" cap="none" normalizeH="0" baseline="0" dirty="0">
                <a:ln>
                  <a:noFill/>
                </a:ln>
                <a:solidFill>
                  <a:schemeClr val="tx1"/>
                </a:solidFill>
                <a:effectLst/>
              </a:rPr>
              <a:t> imports for models directly, your </a:t>
            </a:r>
            <a:r>
              <a:rPr kumimoji="0" lang="en-US" altLang="en-US" sz="2000" b="0" i="0" u="none" strike="noStrike" cap="none" normalizeH="0" baseline="0" dirty="0" err="1">
                <a:ln>
                  <a:noFill/>
                </a:ln>
                <a:solidFill>
                  <a:schemeClr val="tx1"/>
                </a:solidFill>
                <a:effectLst/>
              </a:rPr>
              <a:t>employee.ipynb</a:t>
            </a:r>
            <a:r>
              <a:rPr kumimoji="0" lang="en-US" altLang="en-US" sz="2000" b="0" i="0" u="none" strike="noStrike" cap="none" normalizeH="0" baseline="0" dirty="0">
                <a:ln>
                  <a:noFill/>
                </a:ln>
                <a:solidFill>
                  <a:schemeClr val="tx1"/>
                </a:solidFill>
                <a:effectLst/>
              </a:rPr>
              <a:t> and </a:t>
            </a:r>
            <a:r>
              <a:rPr kumimoji="0" lang="en-US" altLang="en-US" sz="2000" b="0" i="0" u="none" strike="noStrike" cap="none" normalizeH="0" baseline="0" dirty="0" err="1">
                <a:ln>
                  <a:noFill/>
                </a:ln>
                <a:solidFill>
                  <a:schemeClr val="tx1"/>
                </a:solidFill>
                <a:effectLst/>
              </a:rPr>
              <a:t>knn_adult_csv</a:t>
            </a:r>
            <a:r>
              <a:rPr kumimoji="0" lang="en-US" altLang="en-US" sz="2000" b="0" i="0" u="none" strike="noStrike" cap="none" normalizeH="0" baseline="0" dirty="0">
                <a:ln>
                  <a:noFill/>
                </a:ln>
                <a:solidFill>
                  <a:schemeClr val="tx1"/>
                </a:solidFill>
                <a:effectLst/>
              </a:rPr>
              <a:t> updated (1).</a:t>
            </a:r>
            <a:r>
              <a:rPr kumimoji="0" lang="en-US" altLang="en-US" sz="2000" b="0" i="0" u="none" strike="noStrike" cap="none" normalizeH="0" baseline="0" dirty="0" err="1">
                <a:ln>
                  <a:noFill/>
                </a:ln>
                <a:solidFill>
                  <a:schemeClr val="tx1"/>
                </a:solidFill>
                <a:effectLst/>
              </a:rPr>
              <a:t>ipynb</a:t>
            </a:r>
            <a:r>
              <a:rPr kumimoji="0" lang="en-US" altLang="en-US" sz="2000" b="0" i="0" u="none" strike="noStrike" cap="none" normalizeH="0" baseline="0" dirty="0">
                <a:ln>
                  <a:noFill/>
                </a:ln>
                <a:solidFill>
                  <a:schemeClr val="tx1"/>
                </a:solidFill>
                <a:effectLst/>
              </a:rPr>
              <a:t> clearly indicate the use of various </a:t>
            </a:r>
            <a:r>
              <a:rPr kumimoji="0" lang="en-US" altLang="en-US" sz="2000" b="0" i="0" u="none" strike="noStrike" cap="none" normalizeH="0" baseline="0" dirty="0" err="1">
                <a:ln>
                  <a:noFill/>
                </a:ln>
                <a:solidFill>
                  <a:schemeClr val="tx1"/>
                </a:solidFill>
                <a:effectLst/>
              </a:rPr>
              <a:t>sklearn</a:t>
            </a:r>
            <a:r>
              <a:rPr kumimoji="0" lang="en-US" altLang="en-US" sz="2000" b="0" i="0" u="none" strike="noStrike" cap="none" normalizeH="0" baseline="0" dirty="0">
                <a:ln>
                  <a:noFill/>
                </a:ln>
                <a:solidFill>
                  <a:schemeClr val="tx1"/>
                </a:solidFill>
                <a:effectLst/>
              </a:rPr>
              <a:t> modules for: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rPr>
              <a:t>model_selection</a:t>
            </a:r>
            <a:r>
              <a:rPr kumimoji="0" lang="en-US" altLang="en-US" sz="2000" b="0" i="0" u="none" strike="noStrike" cap="none" normalizeH="0" baseline="0" dirty="0">
                <a:ln>
                  <a:noFill/>
                </a:ln>
                <a:solidFill>
                  <a:schemeClr val="tx1"/>
                </a:solidFill>
                <a:effectLst/>
              </a:rPr>
              <a:t>: For splitting data (</a:t>
            </a:r>
            <a:r>
              <a:rPr kumimoji="0" lang="en-US" altLang="en-US" sz="2000" b="0" i="0" u="none" strike="noStrike" cap="none" normalizeH="0" baseline="0" dirty="0" err="1">
                <a:ln>
                  <a:noFill/>
                </a:ln>
                <a:solidFill>
                  <a:schemeClr val="tx1"/>
                </a:solidFill>
                <a:effectLst/>
              </a:rPr>
              <a:t>train_test_split</a:t>
            </a:r>
            <a:r>
              <a:rPr kumimoji="0" lang="en-US" altLang="en-US" sz="2000" b="0" i="0" u="none" strike="noStrike" cap="none" normalizeH="0" baseline="0" dirty="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preprocessing</a:t>
            </a:r>
            <a:r>
              <a:rPr kumimoji="0" lang="en-US" altLang="en-US" sz="2000" b="0" i="0" u="none" strike="noStrike" cap="none" normalizeH="0" baseline="0" dirty="0">
                <a:ln>
                  <a:noFill/>
                </a:ln>
                <a:solidFill>
                  <a:schemeClr val="tx1"/>
                </a:solidFill>
                <a:effectLst/>
              </a:rPr>
              <a:t>: For transforming features (e.g., </a:t>
            </a:r>
            <a:r>
              <a:rPr kumimoji="0" lang="en-US" altLang="en-US" sz="2000" b="0" i="0" u="none" strike="noStrike" cap="none" normalizeH="0" baseline="0" dirty="0" err="1">
                <a:ln>
                  <a:noFill/>
                </a:ln>
                <a:solidFill>
                  <a:schemeClr val="tx1"/>
                </a:solidFill>
                <a:effectLst/>
              </a:rPr>
              <a:t>LabelEncoder</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MinMaxScaler</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OneHotEncoder</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StandardScaler</a:t>
            </a:r>
            <a:r>
              <a:rPr kumimoji="0" lang="en-US" altLang="en-US" sz="2000" b="0" i="0" u="none" strike="noStrike" cap="none" normalizeH="0" baseline="0" dirty="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rPr>
              <a:t>linear_model</a:t>
            </a:r>
            <a:r>
              <a:rPr kumimoji="0" lang="en-US" altLang="en-US" sz="2000" b="0" i="0" u="none" strike="noStrike" cap="none" normalizeH="0" baseline="0" dirty="0">
                <a:ln>
                  <a:noFill/>
                </a:ln>
                <a:solidFill>
                  <a:schemeClr val="tx1"/>
                </a:solidFill>
                <a:effectLst/>
              </a:rPr>
              <a:t>: For </a:t>
            </a:r>
            <a:r>
              <a:rPr kumimoji="0" lang="en-US" altLang="en-US" sz="2000" b="0" i="0" u="none" strike="noStrike" cap="none" normalizeH="0" baseline="0" dirty="0" err="1">
                <a:ln>
                  <a:noFill/>
                </a:ln>
                <a:solidFill>
                  <a:schemeClr val="tx1"/>
                </a:solidFill>
                <a:effectLst/>
              </a:rPr>
              <a:t>LogisticRegression</a:t>
            </a:r>
            <a:r>
              <a:rPr kumimoji="0" lang="en-US" altLang="en-US" sz="2000" b="0" i="0" u="none" strike="noStrike" cap="none" normalizeH="0" baseline="0" dirty="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ensemble</a:t>
            </a:r>
            <a:r>
              <a:rPr kumimoji="0" lang="en-US" altLang="en-US" sz="2000" b="0" i="0" u="none" strike="noStrike" cap="none" normalizeH="0" baseline="0" dirty="0">
                <a:ln>
                  <a:noFill/>
                </a:ln>
                <a:solidFill>
                  <a:schemeClr val="tx1"/>
                </a:solidFill>
                <a:effectLst/>
              </a:rPr>
              <a:t>: For </a:t>
            </a:r>
            <a:r>
              <a:rPr kumimoji="0" lang="en-US" altLang="en-US" sz="2000" b="0" i="0" u="none" strike="noStrike" cap="none" normalizeH="0" baseline="0" dirty="0" err="1">
                <a:ln>
                  <a:noFill/>
                </a:ln>
                <a:solidFill>
                  <a:schemeClr val="tx1"/>
                </a:solidFill>
                <a:effectLst/>
              </a:rPr>
              <a:t>RandomForestClassifier</a:t>
            </a:r>
            <a:r>
              <a:rPr kumimoji="0" lang="en-US" altLang="en-US" sz="2000" b="0" i="0" u="none" strike="noStrike" cap="none" normalizeH="0" baseline="0" dirty="0">
                <a:ln>
                  <a:noFill/>
                </a:ln>
                <a:solidFill>
                  <a:schemeClr val="tx1"/>
                </a:solidFill>
                <a:effectLst/>
              </a:rPr>
              <a:t> and </a:t>
            </a:r>
            <a:r>
              <a:rPr kumimoji="0" lang="en-US" altLang="en-US" sz="2000" b="0" i="0" u="none" strike="noStrike" cap="none" normalizeH="0" baseline="0" dirty="0" err="1">
                <a:ln>
                  <a:noFill/>
                </a:ln>
                <a:solidFill>
                  <a:schemeClr val="tx1"/>
                </a:solidFill>
                <a:effectLst/>
              </a:rPr>
              <a:t>GradientBoostingClassifier</a:t>
            </a:r>
            <a:r>
              <a:rPr kumimoji="0" lang="en-US" altLang="en-US" sz="2000" b="0" i="0" u="none" strike="noStrike" cap="none" normalizeH="0" baseline="0" dirty="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neighbors</a:t>
            </a:r>
            <a:r>
              <a:rPr kumimoji="0" lang="en-US" altLang="en-US" sz="2000" b="0" i="0" u="none" strike="noStrike" cap="none" normalizeH="0" baseline="0" dirty="0">
                <a:ln>
                  <a:noFill/>
                </a:ln>
                <a:solidFill>
                  <a:schemeClr val="tx1"/>
                </a:solidFill>
                <a:effectLst/>
              </a:rPr>
              <a:t>: For </a:t>
            </a:r>
            <a:r>
              <a:rPr kumimoji="0" lang="en-US" altLang="en-US" sz="2000" b="0" i="0" u="none" strike="noStrike" cap="none" normalizeH="0" baseline="0" dirty="0" err="1">
                <a:ln>
                  <a:noFill/>
                </a:ln>
                <a:solidFill>
                  <a:schemeClr val="tx1"/>
                </a:solidFill>
                <a:effectLst/>
              </a:rPr>
              <a:t>KNeighborsClassifier</a:t>
            </a:r>
            <a:r>
              <a:rPr kumimoji="0" lang="en-US" altLang="en-US" sz="2000" b="0" i="0" u="none" strike="noStrike" cap="none" normalizeH="0" baseline="0" dirty="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rPr>
              <a:t>svm</a:t>
            </a:r>
            <a:r>
              <a:rPr kumimoji="0" lang="en-US" altLang="en-US" sz="2000" b="0" i="0" u="none" strike="noStrike" cap="none" normalizeH="0" baseline="0" dirty="0">
                <a:ln>
                  <a:noFill/>
                </a:ln>
                <a:solidFill>
                  <a:schemeClr val="tx1"/>
                </a:solidFill>
                <a:effectLst/>
              </a:rPr>
              <a:t>: For SVC.</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metrics</a:t>
            </a:r>
            <a:r>
              <a:rPr kumimoji="0" lang="en-US" altLang="en-US" sz="2000" b="0" i="0" u="none" strike="noStrike" cap="none" normalizeH="0" baseline="0" dirty="0">
                <a:ln>
                  <a:noFill/>
                </a:ln>
                <a:solidFill>
                  <a:schemeClr val="tx1"/>
                </a:solidFill>
                <a:effectLst/>
              </a:rPr>
              <a:t>: For evaluating model performance (</a:t>
            </a:r>
            <a:r>
              <a:rPr kumimoji="0" lang="en-US" altLang="en-US" sz="2000" b="0" i="0" u="none" strike="noStrike" cap="none" normalizeH="0" baseline="0" dirty="0" err="1">
                <a:ln>
                  <a:noFill/>
                </a:ln>
                <a:solidFill>
                  <a:schemeClr val="tx1"/>
                </a:solidFill>
                <a:effectLst/>
              </a:rPr>
              <a:t>accuracy_score</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classification_report</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confusion_matrix</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roc_auc_score</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roc_curve</a:t>
            </a:r>
            <a:r>
              <a:rPr kumimoji="0" lang="en-US" altLang="en-US" sz="2000" b="0" i="0" u="none" strike="noStrike" cap="none" normalizeH="0" baseline="0" dirty="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pipeline</a:t>
            </a:r>
            <a:r>
              <a:rPr kumimoji="0" lang="en-US" altLang="en-US" sz="2000" b="0" i="0" u="none" strike="noStrike" cap="none" normalizeH="0" baseline="0" dirty="0">
                <a:ln>
                  <a:noFill/>
                </a:ln>
                <a:solidFill>
                  <a:schemeClr val="tx1"/>
                </a:solidFill>
                <a:effectLst/>
              </a:rPr>
              <a:t>: For combining preprocessing and modeling steps into a single workflow.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1619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10</a:t>
            </a:fld>
            <a:endParaRPr lang="en-US" dirty="0"/>
          </a:p>
        </p:txBody>
      </p:sp>
      <p:sp>
        <p:nvSpPr>
          <p:cNvPr id="8" name="Rectangle 1">
            <a:extLst>
              <a:ext uri="{FF2B5EF4-FFF2-40B4-BE49-F238E27FC236}">
                <a16:creationId xmlns:a16="http://schemas.microsoft.com/office/drawing/2014/main" id="{8338FB75-9CEC-11DD-E253-CA611AD062EC}"/>
              </a:ext>
            </a:extLst>
          </p:cNvPr>
          <p:cNvSpPr>
            <a:spLocks noGrp="1" noChangeArrowheads="1"/>
          </p:cNvSpPr>
          <p:nvPr>
            <p:ph idx="13"/>
          </p:nvPr>
        </p:nvSpPr>
        <p:spPr bwMode="auto">
          <a:xfrm>
            <a:off x="0" y="3552766"/>
            <a:ext cx="121920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mj-lt"/>
              </a:rPr>
              <a:t>streamlit</a:t>
            </a:r>
            <a:r>
              <a:rPr kumimoji="0" lang="en-US" altLang="en-US" sz="20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Purpose</a:t>
            </a:r>
            <a:r>
              <a:rPr kumimoji="0" lang="en-US" altLang="en-US" sz="2000" b="0" i="0" u="none" strike="noStrike" cap="none" normalizeH="0" baseline="0" dirty="0">
                <a:ln>
                  <a:noFill/>
                </a:ln>
                <a:solidFill>
                  <a:schemeClr val="tx1"/>
                </a:solidFill>
                <a:effectLst/>
                <a:latin typeface="+mj-lt"/>
              </a:rPr>
              <a:t>: An open-source app framework for Machine Learning and Data Science teams. It allows you to create interactive web applications for your models with pure Python code.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Usage in your code</a:t>
            </a:r>
            <a:r>
              <a:rPr kumimoji="0" lang="en-US" altLang="en-US" sz="2000" b="0" i="0" u="none" strike="noStrike" cap="none" normalizeH="0" baseline="0" dirty="0">
                <a:ln>
                  <a:noFill/>
                </a:ln>
                <a:solidFill>
                  <a:schemeClr val="tx1"/>
                </a:solidFill>
                <a:effectLst/>
                <a:latin typeface="+mj-lt"/>
              </a:rPr>
              <a:t>: The snippet shows commented-out </a:t>
            </a:r>
            <a:r>
              <a:rPr kumimoji="0" lang="en-US" altLang="en-US" sz="2000" b="0" i="0" u="none" strike="noStrike" cap="none" normalizeH="0" baseline="0" dirty="0" err="1">
                <a:ln>
                  <a:noFill/>
                </a:ln>
                <a:solidFill>
                  <a:schemeClr val="tx1"/>
                </a:solidFill>
                <a:effectLst/>
                <a:latin typeface="+mj-lt"/>
              </a:rPr>
              <a:t>streamlit</a:t>
            </a:r>
            <a:r>
              <a:rPr kumimoji="0" lang="en-US" altLang="en-US" sz="2000" b="0" i="0" u="none" strike="noStrike" cap="none" normalizeH="0" baseline="0" dirty="0">
                <a:ln>
                  <a:noFill/>
                </a:ln>
                <a:solidFill>
                  <a:schemeClr val="tx1"/>
                </a:solidFill>
                <a:effectLst/>
                <a:latin typeface="+mj-lt"/>
              </a:rPr>
              <a:t> code and calls like !</a:t>
            </a:r>
            <a:r>
              <a:rPr kumimoji="0" lang="en-US" altLang="en-US" sz="2000" b="0" i="0" u="none" strike="noStrike" cap="none" normalizeH="0" baseline="0" dirty="0" err="1">
                <a:ln>
                  <a:noFill/>
                </a:ln>
                <a:solidFill>
                  <a:schemeClr val="tx1"/>
                </a:solidFill>
                <a:effectLst/>
                <a:latin typeface="+mj-lt"/>
              </a:rPr>
              <a:t>streamlit</a:t>
            </a:r>
            <a:r>
              <a:rPr kumimoji="0" lang="en-US" altLang="en-US" sz="2000" b="0" i="0" u="none" strike="noStrike" cap="none" normalizeH="0" baseline="0" dirty="0">
                <a:ln>
                  <a:noFill/>
                </a:ln>
                <a:solidFill>
                  <a:schemeClr val="tx1"/>
                </a:solidFill>
                <a:effectLst/>
                <a:latin typeface="+mj-lt"/>
              </a:rPr>
              <a:t> run app.py, indicating its use for deploying your model into a simple web interface for demonstration and batch predictions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1" name="Rectangle 3">
            <a:extLst>
              <a:ext uri="{FF2B5EF4-FFF2-40B4-BE49-F238E27FC236}">
                <a16:creationId xmlns:a16="http://schemas.microsoft.com/office/drawing/2014/main" id="{F4211321-9DDA-83C3-D58A-46D63BB7A3E3}"/>
              </a:ext>
            </a:extLst>
          </p:cNvPr>
          <p:cNvSpPr>
            <a:spLocks noChangeArrowheads="1"/>
          </p:cNvSpPr>
          <p:nvPr/>
        </p:nvSpPr>
        <p:spPr bwMode="auto">
          <a:xfrm>
            <a:off x="0" y="670799"/>
            <a:ext cx="11672888"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mj-lt"/>
              </a:rPr>
              <a:t>pyngrok</a:t>
            </a:r>
            <a:r>
              <a:rPr kumimoji="0" lang="en-US" altLang="en-US" sz="20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Purpose</a:t>
            </a:r>
            <a:r>
              <a:rPr kumimoji="0" lang="en-US" altLang="en-US" sz="2000" b="0" i="0" u="none" strike="noStrike" cap="none" normalizeH="0" baseline="0" dirty="0">
                <a:ln>
                  <a:noFill/>
                </a:ln>
                <a:solidFill>
                  <a:schemeClr val="tx1"/>
                </a:solidFill>
                <a:effectLst/>
                <a:latin typeface="+mj-lt"/>
              </a:rPr>
              <a:t>: A Python wrapper for </a:t>
            </a:r>
            <a:r>
              <a:rPr kumimoji="0" lang="en-US" altLang="en-US" sz="2000" b="0" i="0" u="none" strike="noStrike" cap="none" normalizeH="0" baseline="0" dirty="0" err="1">
                <a:ln>
                  <a:noFill/>
                </a:ln>
                <a:solidFill>
                  <a:schemeClr val="tx1"/>
                </a:solidFill>
                <a:effectLst/>
                <a:latin typeface="+mj-lt"/>
              </a:rPr>
              <a:t>ngrok</a:t>
            </a:r>
            <a:r>
              <a:rPr kumimoji="0" lang="en-US" altLang="en-US" sz="2000" b="0" i="0" u="none" strike="noStrike" cap="none" normalizeH="0" baseline="0" dirty="0">
                <a:ln>
                  <a:noFill/>
                </a:ln>
                <a:solidFill>
                  <a:schemeClr val="tx1"/>
                </a:solidFill>
                <a:effectLst/>
                <a:latin typeface="+mj-lt"/>
              </a:rPr>
              <a:t>, a tool that creates secure tunnels to your localhost. This is particularly useful in environments like Google </a:t>
            </a:r>
            <a:r>
              <a:rPr kumimoji="0" lang="en-US" altLang="en-US" sz="2000" b="0" i="0" u="none" strike="noStrike" cap="none" normalizeH="0" baseline="0" dirty="0" err="1">
                <a:ln>
                  <a:noFill/>
                </a:ln>
                <a:solidFill>
                  <a:schemeClr val="tx1"/>
                </a:solidFill>
                <a:effectLst/>
                <a:latin typeface="+mj-lt"/>
              </a:rPr>
              <a:t>Colab</a:t>
            </a:r>
            <a:r>
              <a:rPr kumimoji="0" lang="en-US" altLang="en-US" sz="2000" b="0" i="0" u="none" strike="noStrike" cap="none" normalizeH="0" baseline="0" dirty="0">
                <a:ln>
                  <a:noFill/>
                </a:ln>
                <a:solidFill>
                  <a:schemeClr val="tx1"/>
                </a:solidFill>
                <a:effectLst/>
                <a:latin typeface="+mj-lt"/>
              </a:rPr>
              <a:t> to expose your local web applications (like </a:t>
            </a:r>
            <a:r>
              <a:rPr kumimoji="0" lang="en-US" altLang="en-US" sz="2000" b="0" i="0" u="none" strike="noStrike" cap="none" normalizeH="0" baseline="0" dirty="0" err="1">
                <a:ln>
                  <a:noFill/>
                </a:ln>
                <a:solidFill>
                  <a:schemeClr val="tx1"/>
                </a:solidFill>
                <a:effectLst/>
                <a:latin typeface="+mj-lt"/>
              </a:rPr>
              <a:t>Streamlit</a:t>
            </a:r>
            <a:r>
              <a:rPr kumimoji="0" lang="en-US" altLang="en-US" sz="2000" b="0" i="0" u="none" strike="noStrike" cap="none" normalizeH="0" baseline="0" dirty="0">
                <a:ln>
                  <a:noFill/>
                </a:ln>
                <a:solidFill>
                  <a:schemeClr val="tx1"/>
                </a:solidFill>
                <a:effectLst/>
                <a:latin typeface="+mj-lt"/>
              </a:rPr>
              <a:t> apps) to the internet.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Usage in your code</a:t>
            </a:r>
            <a:r>
              <a:rPr kumimoji="0" lang="en-US" altLang="en-US" sz="2000" b="0" i="0" u="none" strike="noStrike" cap="none" normalizeH="0" baseline="0" dirty="0">
                <a:ln>
                  <a:noFill/>
                </a:ln>
                <a:solidFill>
                  <a:schemeClr val="tx1"/>
                </a:solidFill>
                <a:effectLst/>
                <a:latin typeface="+mj-lt"/>
              </a:rPr>
              <a:t>: Seen with !pip install </a:t>
            </a:r>
            <a:r>
              <a:rPr kumimoji="0" lang="en-US" altLang="en-US" sz="2000" b="0" i="0" u="none" strike="noStrike" cap="none" normalizeH="0" baseline="0" dirty="0" err="1">
                <a:ln>
                  <a:noFill/>
                </a:ln>
                <a:solidFill>
                  <a:schemeClr val="tx1"/>
                </a:solidFill>
                <a:effectLst/>
                <a:latin typeface="+mj-lt"/>
              </a:rPr>
              <a:t>streamlit</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pyngrok</a:t>
            </a:r>
            <a:r>
              <a:rPr kumimoji="0" lang="en-US" altLang="en-US" sz="2000" b="0" i="0" u="none" strike="noStrike" cap="none" normalizeH="0" baseline="0" dirty="0">
                <a:ln>
                  <a:noFill/>
                </a:ln>
                <a:solidFill>
                  <a:schemeClr val="tx1"/>
                </a:solidFill>
                <a:effectLst/>
                <a:latin typeface="+mj-lt"/>
              </a:rPr>
              <a:t> and !</a:t>
            </a:r>
            <a:r>
              <a:rPr kumimoji="0" lang="en-US" altLang="en-US" sz="2000" b="0" i="0" u="none" strike="noStrike" cap="none" normalizeH="0" baseline="0" dirty="0" err="1">
                <a:ln>
                  <a:noFill/>
                </a:ln>
                <a:solidFill>
                  <a:schemeClr val="tx1"/>
                </a:solidFill>
                <a:effectLst/>
                <a:latin typeface="+mj-lt"/>
              </a:rPr>
              <a:t>ngrok</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aut</a:t>
            </a:r>
            <a:r>
              <a:rPr kumimoji="0" lang="en-US" altLang="en-US" sz="2000" b="0" i="0" u="none" strike="noStrike" cap="none" normalizeH="0" baseline="0" dirty="0">
                <a:ln>
                  <a:noFill/>
                </a:ln>
                <a:solidFill>
                  <a:schemeClr val="tx1"/>
                </a:solidFill>
                <a:effectLst/>
                <a:latin typeface="+mj-lt"/>
              </a:rPr>
              <a:t>..., indicating its use to make the </a:t>
            </a:r>
            <a:r>
              <a:rPr kumimoji="0" lang="en-US" altLang="en-US" sz="2000" b="0" i="0" u="none" strike="noStrike" cap="none" normalizeH="0" baseline="0" dirty="0" err="1">
                <a:ln>
                  <a:noFill/>
                </a:ln>
                <a:solidFill>
                  <a:schemeClr val="tx1"/>
                </a:solidFill>
                <a:effectLst/>
                <a:latin typeface="+mj-lt"/>
              </a:rPr>
              <a:t>Streamlit</a:t>
            </a:r>
            <a:r>
              <a:rPr kumimoji="0" lang="en-US" altLang="en-US" sz="2000" b="0" i="0" u="none" strike="noStrike" cap="none" normalizeH="0" baseline="0" dirty="0">
                <a:ln>
                  <a:noFill/>
                </a:ln>
                <a:solidFill>
                  <a:schemeClr val="tx1"/>
                </a:solidFill>
                <a:effectLst/>
                <a:latin typeface="+mj-lt"/>
              </a:rPr>
              <a:t> app accessible via a public URL.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2101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550563" y="1089213"/>
            <a:ext cx="9879437" cy="980844"/>
          </a:xfrm>
        </p:spPr>
        <p:txBody>
          <a:bodyPr/>
          <a:lstStyle/>
          <a:p>
            <a:r>
              <a:rPr lang="en-US" dirty="0"/>
              <a:t>ALGORITHM AND DEPLOYMENT</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11</a:t>
            </a:fld>
            <a:endParaRPr lang="en-US" dirty="0"/>
          </a:p>
        </p:txBody>
      </p:sp>
      <p:sp>
        <p:nvSpPr>
          <p:cNvPr id="10" name="Rectangle 1">
            <a:extLst>
              <a:ext uri="{FF2B5EF4-FFF2-40B4-BE49-F238E27FC236}">
                <a16:creationId xmlns:a16="http://schemas.microsoft.com/office/drawing/2014/main" id="{53E73F51-6770-5A16-C206-B8E4871C95FB}"/>
              </a:ext>
            </a:extLst>
          </p:cNvPr>
          <p:cNvSpPr>
            <a:spLocks noGrp="1" noChangeArrowheads="1"/>
          </p:cNvSpPr>
          <p:nvPr>
            <p:ph type="body" sz="quarter" idx="13"/>
          </p:nvPr>
        </p:nvSpPr>
        <p:spPr bwMode="auto">
          <a:xfrm>
            <a:off x="1550988" y="1952794"/>
            <a:ext cx="4764087"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1. Data Collection &amp; Overview:</a:t>
            </a:r>
            <a:endParaRPr kumimoji="0" lang="en-US" altLang="en-US" sz="2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The project utilized the 'Adult Income Dataset' (adult 3.csv), comprising various demographic and socio-economic features. Key features include age, </a:t>
            </a:r>
            <a:r>
              <a:rPr kumimoji="0" lang="en-US" altLang="en-US" sz="2000" b="0" i="0" u="none" strike="noStrike" cap="none" normalizeH="0" baseline="0" dirty="0" err="1">
                <a:ln>
                  <a:noFill/>
                </a:ln>
                <a:solidFill>
                  <a:schemeClr val="tx1"/>
                </a:solidFill>
                <a:effectLst/>
                <a:latin typeface="+mj-lt"/>
              </a:rPr>
              <a:t>workclass</a:t>
            </a:r>
            <a:r>
              <a:rPr kumimoji="0" lang="en-US" altLang="en-US" sz="2000" b="0" i="0" u="none" strike="noStrike" cap="none" normalizeH="0" baseline="0" dirty="0">
                <a:ln>
                  <a:noFill/>
                </a:ln>
                <a:solidFill>
                  <a:schemeClr val="tx1"/>
                </a:solidFill>
                <a:effectLst/>
                <a:latin typeface="+mj-lt"/>
              </a:rPr>
              <a:t>, education, marital-status, occupation, race, gender, hours-per-week, capital-gain, capital-loss, and native-country. The target variable is 'income', indicating whether an individual's annual income is &lt;=50K or &gt;50K.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9996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EE55F1-8D1E-8F57-69F6-CDDF5AEAD961}"/>
              </a:ext>
            </a:extLst>
          </p:cNvPr>
          <p:cNvSpPr>
            <a:spLocks noGrp="1"/>
          </p:cNvSpPr>
          <p:nvPr>
            <p:ph type="sldNum" sz="quarter" idx="12"/>
          </p:nvPr>
        </p:nvSpPr>
        <p:spPr/>
        <p:txBody>
          <a:bodyPr/>
          <a:lstStyle/>
          <a:p>
            <a:fld id="{48F63A3B-78C7-47BE-AE5E-E10140E04643}" type="slidenum">
              <a:rPr lang="en-US" smtClean="0"/>
              <a:pPr/>
              <a:t>12</a:t>
            </a:fld>
            <a:endParaRPr lang="en-US" dirty="0"/>
          </a:p>
        </p:txBody>
      </p:sp>
      <p:pic>
        <p:nvPicPr>
          <p:cNvPr id="14" name="Picture 13">
            <a:extLst>
              <a:ext uri="{FF2B5EF4-FFF2-40B4-BE49-F238E27FC236}">
                <a16:creationId xmlns:a16="http://schemas.microsoft.com/office/drawing/2014/main" id="{59D9A9D1-B126-D020-E35F-FAE0D8A8DA58}"/>
              </a:ext>
            </a:extLst>
          </p:cNvPr>
          <p:cNvPicPr>
            <a:picLocks noChangeAspect="1"/>
          </p:cNvPicPr>
          <p:nvPr/>
        </p:nvPicPr>
        <p:blipFill>
          <a:blip r:embed="rId2"/>
          <a:stretch>
            <a:fillRect/>
          </a:stretch>
        </p:blipFill>
        <p:spPr>
          <a:xfrm>
            <a:off x="477686" y="1364303"/>
            <a:ext cx="11236627" cy="4129393"/>
          </a:xfrm>
          <a:prstGeom prst="rect">
            <a:avLst/>
          </a:prstGeom>
        </p:spPr>
      </p:pic>
    </p:spTree>
    <p:extLst>
      <p:ext uri="{BB962C8B-B14F-4D97-AF65-F5344CB8AC3E}">
        <p14:creationId xmlns:p14="http://schemas.microsoft.com/office/powerpoint/2010/main" val="2800863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13</a:t>
            </a:fld>
            <a:endParaRPr lang="en-US" dirty="0"/>
          </a:p>
        </p:txBody>
      </p:sp>
      <p:sp>
        <p:nvSpPr>
          <p:cNvPr id="6" name="Rectangle 1">
            <a:extLst>
              <a:ext uri="{FF2B5EF4-FFF2-40B4-BE49-F238E27FC236}">
                <a16:creationId xmlns:a16="http://schemas.microsoft.com/office/drawing/2014/main" id="{44884C13-AC85-1C4C-CEB8-1449F9994D23}"/>
              </a:ext>
            </a:extLst>
          </p:cNvPr>
          <p:cNvSpPr>
            <a:spLocks noGrp="1" noChangeArrowheads="1"/>
          </p:cNvSpPr>
          <p:nvPr>
            <p:ph sz="half" idx="2"/>
          </p:nvPr>
        </p:nvSpPr>
        <p:spPr bwMode="auto">
          <a:xfrm>
            <a:off x="1550987" y="961221"/>
            <a:ext cx="8207376"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2. Data Preprocessing:</a:t>
            </a:r>
            <a:endParaRPr kumimoji="0" lang="en-US" altLang="en-US" sz="2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Initial data inspection revealed missing values denoted by '?', which were replaced with </a:t>
            </a:r>
            <a:r>
              <a:rPr kumimoji="0" lang="en-US" altLang="en-US" sz="2000" b="0" i="0" u="none" strike="noStrike" cap="none" normalizeH="0" baseline="0" dirty="0" err="1">
                <a:ln>
                  <a:noFill/>
                </a:ln>
                <a:solidFill>
                  <a:schemeClr val="tx1"/>
                </a:solidFill>
                <a:effectLst/>
                <a:latin typeface="+mj-lt"/>
              </a:rPr>
              <a:t>NaN</a:t>
            </a:r>
            <a:r>
              <a:rPr kumimoji="0" lang="en-US" altLang="en-US" sz="2000" b="0" i="0" u="none" strike="noStrike" cap="none" normalizeH="0" baseline="0" dirty="0">
                <a:ln>
                  <a:noFill/>
                </a:ln>
                <a:solidFill>
                  <a:schemeClr val="tx1"/>
                </a:solidFill>
                <a:effectLst/>
                <a:latin typeface="+mj-lt"/>
              </a:rPr>
              <a:t> and subsequently handled by imputing with the mode for categorical features (e.g., '</a:t>
            </a:r>
            <a:r>
              <a:rPr kumimoji="0" lang="en-US" altLang="en-US" sz="2000" b="0" i="0" u="none" strike="noStrike" cap="none" normalizeH="0" baseline="0" dirty="0" err="1">
                <a:ln>
                  <a:noFill/>
                </a:ln>
                <a:solidFill>
                  <a:schemeClr val="tx1"/>
                </a:solidFill>
                <a:effectLst/>
                <a:latin typeface="+mj-lt"/>
              </a:rPr>
              <a:t>workclass</a:t>
            </a:r>
            <a:r>
              <a:rPr kumimoji="0" lang="en-US" altLang="en-US" sz="2000" b="0" i="0" u="none" strike="noStrike" cap="none" normalizeH="0" baseline="0" dirty="0">
                <a:ln>
                  <a:noFill/>
                </a:ln>
                <a:solidFill>
                  <a:schemeClr val="tx1"/>
                </a:solidFill>
                <a:effectLst/>
                <a:latin typeface="+mj-lt"/>
              </a:rPr>
              <a:t>', 'occupation', 'native-country'). Specific '</a:t>
            </a:r>
            <a:r>
              <a:rPr kumimoji="0" lang="en-US" altLang="en-US" sz="2000" b="0" i="0" u="none" strike="noStrike" cap="none" normalizeH="0" baseline="0" dirty="0" err="1">
                <a:ln>
                  <a:noFill/>
                </a:ln>
                <a:solidFill>
                  <a:schemeClr val="tx1"/>
                </a:solidFill>
                <a:effectLst/>
                <a:latin typeface="+mj-lt"/>
              </a:rPr>
              <a:t>workclass</a:t>
            </a:r>
            <a:r>
              <a:rPr kumimoji="0" lang="en-US" altLang="en-US" sz="2000" b="0" i="0" u="none" strike="noStrike" cap="none" normalizeH="0" baseline="0" dirty="0">
                <a:ln>
                  <a:noFill/>
                </a:ln>
                <a:solidFill>
                  <a:schemeClr val="tx1"/>
                </a:solidFill>
                <a:effectLst/>
                <a:latin typeface="+mj-lt"/>
              </a:rPr>
              <a:t>' categories ('Without-pay', 'Never-worked') were also filtered out for relevance.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Categorical features were transformed into numerical format using </a:t>
            </a:r>
            <a:r>
              <a:rPr kumimoji="0" lang="en-US" altLang="en-US" sz="2000" b="1" i="0" u="none" strike="noStrike" cap="none" normalizeH="0" baseline="0" dirty="0">
                <a:ln>
                  <a:noFill/>
                </a:ln>
                <a:solidFill>
                  <a:schemeClr val="tx1"/>
                </a:solidFill>
                <a:effectLst/>
                <a:latin typeface="+mj-lt"/>
              </a:rPr>
              <a:t>Label Encoding</a:t>
            </a:r>
            <a:r>
              <a:rPr kumimoji="0" lang="en-US" altLang="en-US" sz="2000" b="0" i="0" u="none" strike="noStrike" cap="none" normalizeH="0" baseline="0" dirty="0">
                <a:ln>
                  <a:noFill/>
                </a:ln>
                <a:solidFill>
                  <a:schemeClr val="tx1"/>
                </a:solidFill>
                <a:effectLst/>
                <a:latin typeface="+mj-lt"/>
              </a:rPr>
              <a:t> for the target variable ('income') and </a:t>
            </a:r>
            <a:r>
              <a:rPr kumimoji="0" lang="en-US" altLang="en-US" sz="2000" b="1" i="0" u="none" strike="noStrike" cap="none" normalizeH="0" baseline="0" dirty="0">
                <a:ln>
                  <a:noFill/>
                </a:ln>
                <a:solidFill>
                  <a:schemeClr val="tx1"/>
                </a:solidFill>
                <a:effectLst/>
                <a:latin typeface="+mj-lt"/>
              </a:rPr>
              <a:t>manual encoding</a:t>
            </a:r>
            <a:r>
              <a:rPr kumimoji="0" lang="en-US" altLang="en-US" sz="2000" b="0" i="0" u="none" strike="noStrike" cap="none" normalizeH="0" baseline="0" dirty="0">
                <a:ln>
                  <a:noFill/>
                </a:ln>
                <a:solidFill>
                  <a:schemeClr val="tx1"/>
                </a:solidFill>
                <a:effectLst/>
                <a:latin typeface="+mj-lt"/>
              </a:rPr>
              <a:t> for other nominal features. Numerical features were scaled using </a:t>
            </a:r>
            <a:r>
              <a:rPr kumimoji="0" lang="en-US" altLang="en-US" sz="2000" b="1" i="0" u="none" strike="noStrike" cap="none" normalizeH="0" baseline="0" dirty="0" err="1">
                <a:ln>
                  <a:noFill/>
                </a:ln>
                <a:solidFill>
                  <a:schemeClr val="tx1"/>
                </a:solidFill>
                <a:effectLst/>
                <a:latin typeface="+mj-lt"/>
              </a:rPr>
              <a:t>MinMaxScaler</a:t>
            </a:r>
            <a:r>
              <a:rPr kumimoji="0" lang="en-US" altLang="en-US" sz="2000" b="0" i="0" u="none" strike="noStrike" cap="none" normalizeH="0" baseline="0" dirty="0">
                <a:ln>
                  <a:noFill/>
                </a:ln>
                <a:solidFill>
                  <a:schemeClr val="tx1"/>
                </a:solidFill>
                <a:effectLst/>
                <a:latin typeface="+mj-lt"/>
              </a:rPr>
              <a:t> to normalize their range.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Outliers in 'age', '</a:t>
            </a:r>
            <a:r>
              <a:rPr kumimoji="0" lang="en-US" altLang="en-US" sz="2000" b="0" i="0" u="none" strike="noStrike" cap="none" normalizeH="0" baseline="0" dirty="0" err="1">
                <a:ln>
                  <a:noFill/>
                </a:ln>
                <a:solidFill>
                  <a:schemeClr val="tx1"/>
                </a:solidFill>
                <a:effectLst/>
                <a:latin typeface="+mj-lt"/>
              </a:rPr>
              <a:t>fnlwgt</a:t>
            </a:r>
            <a:r>
              <a:rPr kumimoji="0" lang="en-US" altLang="en-US" sz="2000" b="0" i="0" u="none" strike="noStrike" cap="none" normalizeH="0" baseline="0" dirty="0">
                <a:ln>
                  <a:noFill/>
                </a:ln>
                <a:solidFill>
                  <a:schemeClr val="tx1"/>
                </a:solidFill>
                <a:effectLst/>
                <a:latin typeface="+mj-lt"/>
              </a:rPr>
              <a:t>', and 'hours-per-week' were identified and handled through filtering within a reasonable range or using the Interquartile Range (IQR) method to ensure data quality and model robustness.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98021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14</a:t>
            </a:fld>
            <a:endParaRPr lang="en-US" dirty="0"/>
          </a:p>
        </p:txBody>
      </p:sp>
      <p:pic>
        <p:nvPicPr>
          <p:cNvPr id="10" name="Content Placeholder 9">
            <a:extLst>
              <a:ext uri="{FF2B5EF4-FFF2-40B4-BE49-F238E27FC236}">
                <a16:creationId xmlns:a16="http://schemas.microsoft.com/office/drawing/2014/main" id="{A0FDDA67-2C30-2892-A716-193A4798C5BB}"/>
              </a:ext>
            </a:extLst>
          </p:cNvPr>
          <p:cNvPicPr>
            <a:picLocks noGrp="1" noChangeAspect="1"/>
          </p:cNvPicPr>
          <p:nvPr>
            <p:ph sz="quarter" idx="4"/>
          </p:nvPr>
        </p:nvPicPr>
        <p:blipFill>
          <a:blip r:embed="rId3"/>
          <a:stretch>
            <a:fillRect/>
          </a:stretch>
        </p:blipFill>
        <p:spPr>
          <a:xfrm>
            <a:off x="1049148" y="692943"/>
            <a:ext cx="3122802" cy="5052177"/>
          </a:xfrm>
        </p:spPr>
      </p:pic>
      <p:pic>
        <p:nvPicPr>
          <p:cNvPr id="12" name="Picture 11">
            <a:extLst>
              <a:ext uri="{FF2B5EF4-FFF2-40B4-BE49-F238E27FC236}">
                <a16:creationId xmlns:a16="http://schemas.microsoft.com/office/drawing/2014/main" id="{71A85413-3C38-694A-DF20-ECB1590F8F0E}"/>
              </a:ext>
            </a:extLst>
          </p:cNvPr>
          <p:cNvPicPr>
            <a:picLocks noChangeAspect="1"/>
          </p:cNvPicPr>
          <p:nvPr/>
        </p:nvPicPr>
        <p:blipFill>
          <a:blip r:embed="rId4"/>
          <a:stretch>
            <a:fillRect/>
          </a:stretch>
        </p:blipFill>
        <p:spPr>
          <a:xfrm>
            <a:off x="4623978" y="692943"/>
            <a:ext cx="5858693" cy="4772691"/>
          </a:xfrm>
          <a:prstGeom prst="rect">
            <a:avLst/>
          </a:prstGeom>
        </p:spPr>
      </p:pic>
    </p:spTree>
    <p:extLst>
      <p:ext uri="{BB962C8B-B14F-4D97-AF65-F5344CB8AC3E}">
        <p14:creationId xmlns:p14="http://schemas.microsoft.com/office/powerpoint/2010/main" val="1686213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01052-E212-7F9D-0125-D8E868DF76DF}"/>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DA2F66E1-1177-151F-4295-48072E2F6B83}"/>
              </a:ext>
            </a:extLst>
          </p:cNvPr>
          <p:cNvPicPr>
            <a:picLocks noGrp="1" noChangeAspect="1"/>
          </p:cNvPicPr>
          <p:nvPr>
            <p:ph sz="quarter" idx="4"/>
          </p:nvPr>
        </p:nvPicPr>
        <p:blipFill>
          <a:blip r:embed="rId2"/>
          <a:stretch>
            <a:fillRect/>
          </a:stretch>
        </p:blipFill>
        <p:spPr>
          <a:xfrm>
            <a:off x="269236" y="201613"/>
            <a:ext cx="4445639" cy="3375140"/>
          </a:xfrm>
        </p:spPr>
      </p:pic>
      <p:sp>
        <p:nvSpPr>
          <p:cNvPr id="4" name="Slide Number Placeholder 3">
            <a:extLst>
              <a:ext uri="{FF2B5EF4-FFF2-40B4-BE49-F238E27FC236}">
                <a16:creationId xmlns:a16="http://schemas.microsoft.com/office/drawing/2014/main" id="{7D452192-9F0B-CE14-1064-BF3484444AA6}"/>
              </a:ext>
            </a:extLst>
          </p:cNvPr>
          <p:cNvSpPr>
            <a:spLocks noGrp="1"/>
          </p:cNvSpPr>
          <p:nvPr>
            <p:ph type="sldNum" sz="quarter" idx="10"/>
          </p:nvPr>
        </p:nvSpPr>
        <p:spPr/>
        <p:txBody>
          <a:bodyPr/>
          <a:lstStyle/>
          <a:p>
            <a:fld id="{48F63A3B-78C7-47BE-AE5E-E10140E04643}" type="slidenum">
              <a:rPr lang="en-US" smtClean="0"/>
              <a:pPr/>
              <a:t>15</a:t>
            </a:fld>
            <a:endParaRPr lang="en-US" dirty="0"/>
          </a:p>
        </p:txBody>
      </p:sp>
      <p:pic>
        <p:nvPicPr>
          <p:cNvPr id="8" name="Picture 7">
            <a:extLst>
              <a:ext uri="{FF2B5EF4-FFF2-40B4-BE49-F238E27FC236}">
                <a16:creationId xmlns:a16="http://schemas.microsoft.com/office/drawing/2014/main" id="{D9D42358-F90D-8B88-816B-B37674E296CA}"/>
              </a:ext>
            </a:extLst>
          </p:cNvPr>
          <p:cNvPicPr>
            <a:picLocks noChangeAspect="1"/>
          </p:cNvPicPr>
          <p:nvPr/>
        </p:nvPicPr>
        <p:blipFill>
          <a:blip r:embed="rId3"/>
          <a:stretch>
            <a:fillRect/>
          </a:stretch>
        </p:blipFill>
        <p:spPr>
          <a:xfrm>
            <a:off x="5045841" y="201613"/>
            <a:ext cx="4555359" cy="2962777"/>
          </a:xfrm>
          <a:prstGeom prst="rect">
            <a:avLst/>
          </a:prstGeom>
        </p:spPr>
      </p:pic>
      <p:pic>
        <p:nvPicPr>
          <p:cNvPr id="10" name="Picture 9">
            <a:extLst>
              <a:ext uri="{FF2B5EF4-FFF2-40B4-BE49-F238E27FC236}">
                <a16:creationId xmlns:a16="http://schemas.microsoft.com/office/drawing/2014/main" id="{0596BC04-ABC0-0A49-7611-C634BE1697C7}"/>
              </a:ext>
            </a:extLst>
          </p:cNvPr>
          <p:cNvPicPr>
            <a:picLocks noChangeAspect="1"/>
          </p:cNvPicPr>
          <p:nvPr/>
        </p:nvPicPr>
        <p:blipFill>
          <a:blip r:embed="rId4"/>
          <a:stretch>
            <a:fillRect/>
          </a:stretch>
        </p:blipFill>
        <p:spPr>
          <a:xfrm>
            <a:off x="5157010" y="3429000"/>
            <a:ext cx="4640234" cy="3186394"/>
          </a:xfrm>
          <a:prstGeom prst="rect">
            <a:avLst/>
          </a:prstGeom>
        </p:spPr>
      </p:pic>
    </p:spTree>
    <p:extLst>
      <p:ext uri="{BB962C8B-B14F-4D97-AF65-F5344CB8AC3E}">
        <p14:creationId xmlns:p14="http://schemas.microsoft.com/office/powerpoint/2010/main" val="1977813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95EAF4-7961-2095-448D-F345A98A3F9C}"/>
              </a:ext>
            </a:extLst>
          </p:cNvPr>
          <p:cNvSpPr>
            <a:spLocks noGrp="1"/>
          </p:cNvSpPr>
          <p:nvPr>
            <p:ph type="sldNum" sz="quarter" idx="10"/>
          </p:nvPr>
        </p:nvSpPr>
        <p:spPr/>
        <p:txBody>
          <a:bodyPr/>
          <a:lstStyle/>
          <a:p>
            <a:fld id="{48F63A3B-78C7-47BE-AE5E-E10140E04643}" type="slidenum">
              <a:rPr lang="en-US" smtClean="0"/>
              <a:pPr/>
              <a:t>16</a:t>
            </a:fld>
            <a:endParaRPr lang="en-US" dirty="0"/>
          </a:p>
        </p:txBody>
      </p:sp>
      <p:pic>
        <p:nvPicPr>
          <p:cNvPr id="6" name="Picture 5">
            <a:extLst>
              <a:ext uri="{FF2B5EF4-FFF2-40B4-BE49-F238E27FC236}">
                <a16:creationId xmlns:a16="http://schemas.microsoft.com/office/drawing/2014/main" id="{DD6D7717-40C2-0FCA-C049-CC3D6705D24D}"/>
              </a:ext>
            </a:extLst>
          </p:cNvPr>
          <p:cNvPicPr>
            <a:picLocks noChangeAspect="1"/>
          </p:cNvPicPr>
          <p:nvPr/>
        </p:nvPicPr>
        <p:blipFill>
          <a:blip r:embed="rId2"/>
          <a:stretch>
            <a:fillRect/>
          </a:stretch>
        </p:blipFill>
        <p:spPr>
          <a:xfrm>
            <a:off x="5714870" y="966809"/>
            <a:ext cx="4757867" cy="2452509"/>
          </a:xfrm>
          <a:prstGeom prst="rect">
            <a:avLst/>
          </a:prstGeom>
        </p:spPr>
      </p:pic>
      <p:pic>
        <p:nvPicPr>
          <p:cNvPr id="8" name="Picture 7">
            <a:extLst>
              <a:ext uri="{FF2B5EF4-FFF2-40B4-BE49-F238E27FC236}">
                <a16:creationId xmlns:a16="http://schemas.microsoft.com/office/drawing/2014/main" id="{98DD67A4-B86B-3825-467F-C56CA2AFFF66}"/>
              </a:ext>
            </a:extLst>
          </p:cNvPr>
          <p:cNvPicPr>
            <a:picLocks noChangeAspect="1"/>
          </p:cNvPicPr>
          <p:nvPr/>
        </p:nvPicPr>
        <p:blipFill>
          <a:blip r:embed="rId3"/>
          <a:stretch>
            <a:fillRect/>
          </a:stretch>
        </p:blipFill>
        <p:spPr>
          <a:xfrm>
            <a:off x="5243393" y="3724230"/>
            <a:ext cx="6552224" cy="2452508"/>
          </a:xfrm>
          <a:prstGeom prst="rect">
            <a:avLst/>
          </a:prstGeom>
        </p:spPr>
      </p:pic>
      <p:sp>
        <p:nvSpPr>
          <p:cNvPr id="11" name="TextBox 10">
            <a:extLst>
              <a:ext uri="{FF2B5EF4-FFF2-40B4-BE49-F238E27FC236}">
                <a16:creationId xmlns:a16="http://schemas.microsoft.com/office/drawing/2014/main" id="{21A95F3B-CEA8-3AF2-1A3F-73E471D3B543}"/>
              </a:ext>
            </a:extLst>
          </p:cNvPr>
          <p:cNvSpPr txBox="1"/>
          <p:nvPr/>
        </p:nvSpPr>
        <p:spPr>
          <a:xfrm>
            <a:off x="1600200" y="1685924"/>
            <a:ext cx="2943225" cy="646331"/>
          </a:xfrm>
          <a:prstGeom prst="rect">
            <a:avLst/>
          </a:prstGeom>
          <a:noFill/>
        </p:spPr>
        <p:txBody>
          <a:bodyPr wrap="square" rtlCol="0">
            <a:spAutoFit/>
          </a:bodyPr>
          <a:lstStyle/>
          <a:p>
            <a:r>
              <a:rPr lang="en-US" dirty="0"/>
              <a:t>DATA SHAPE BEFORE REMOVING OUTLIERS</a:t>
            </a:r>
            <a:endParaRPr lang="en-IN" dirty="0"/>
          </a:p>
        </p:txBody>
      </p:sp>
      <p:sp>
        <p:nvSpPr>
          <p:cNvPr id="12" name="TextBox 11">
            <a:extLst>
              <a:ext uri="{FF2B5EF4-FFF2-40B4-BE49-F238E27FC236}">
                <a16:creationId xmlns:a16="http://schemas.microsoft.com/office/drawing/2014/main" id="{97F67313-250B-D590-A34B-E16D2E3C6366}"/>
              </a:ext>
            </a:extLst>
          </p:cNvPr>
          <p:cNvSpPr txBox="1"/>
          <p:nvPr/>
        </p:nvSpPr>
        <p:spPr>
          <a:xfrm>
            <a:off x="1600200" y="4171950"/>
            <a:ext cx="2614613" cy="923330"/>
          </a:xfrm>
          <a:prstGeom prst="rect">
            <a:avLst/>
          </a:prstGeom>
          <a:noFill/>
        </p:spPr>
        <p:txBody>
          <a:bodyPr wrap="square" rtlCol="0">
            <a:spAutoFit/>
          </a:bodyPr>
          <a:lstStyle/>
          <a:p>
            <a:r>
              <a:rPr lang="en-US" dirty="0"/>
              <a:t>DATA SHAPE AFTER REMOVING OUTLIERS</a:t>
            </a:r>
            <a:endParaRPr lang="en-IN" dirty="0"/>
          </a:p>
          <a:p>
            <a:endParaRPr lang="en-IN" dirty="0"/>
          </a:p>
        </p:txBody>
      </p:sp>
    </p:spTree>
    <p:extLst>
      <p:ext uri="{BB962C8B-B14F-4D97-AF65-F5344CB8AC3E}">
        <p14:creationId xmlns:p14="http://schemas.microsoft.com/office/powerpoint/2010/main" val="3010525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1AA5A3-ADA2-7178-6811-2B2E14F6D5B4}"/>
              </a:ext>
            </a:extLst>
          </p:cNvPr>
          <p:cNvSpPr>
            <a:spLocks noGrp="1"/>
          </p:cNvSpPr>
          <p:nvPr>
            <p:ph type="sldNum" sz="quarter" idx="10"/>
          </p:nvPr>
        </p:nvSpPr>
        <p:spPr/>
        <p:txBody>
          <a:bodyPr/>
          <a:lstStyle/>
          <a:p>
            <a:fld id="{48F63A3B-78C7-47BE-AE5E-E10140E04643}" type="slidenum">
              <a:rPr lang="en-US" smtClean="0"/>
              <a:pPr/>
              <a:t>17</a:t>
            </a:fld>
            <a:endParaRPr lang="en-US" dirty="0"/>
          </a:p>
        </p:txBody>
      </p:sp>
      <p:sp>
        <p:nvSpPr>
          <p:cNvPr id="5" name="Rectangle 1">
            <a:extLst>
              <a:ext uri="{FF2B5EF4-FFF2-40B4-BE49-F238E27FC236}">
                <a16:creationId xmlns:a16="http://schemas.microsoft.com/office/drawing/2014/main" id="{E3DC1557-3AF2-6A19-0806-57862DB5FD0F}"/>
              </a:ext>
            </a:extLst>
          </p:cNvPr>
          <p:cNvSpPr>
            <a:spLocks noGrp="1" noChangeArrowheads="1"/>
          </p:cNvSpPr>
          <p:nvPr>
            <p:ph sz="quarter" idx="4"/>
          </p:nvPr>
        </p:nvSpPr>
        <p:spPr bwMode="auto">
          <a:xfrm>
            <a:off x="412956" y="870155"/>
            <a:ext cx="1101307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3. Data Splitting: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preprocessed dataset was divided into training and testing sets with an 80:20 ratio, respectively, ensuring the model's performance could be evaluated on unseen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4. Machine Learning Model Selection &amp; Training: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 this classification problem, three distinct machine learning algorithms were selected and trained: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Logistic Regression:</a:t>
            </a:r>
            <a:r>
              <a:rPr kumimoji="0" lang="en-US" altLang="en-US" sz="1800" b="0" i="0" u="none" strike="noStrike" cap="none" normalizeH="0" baseline="0" dirty="0">
                <a:ln>
                  <a:noFill/>
                </a:ln>
                <a:solidFill>
                  <a:schemeClr val="tx1"/>
                </a:solidFill>
                <a:effectLst/>
                <a:latin typeface="Arial" panose="020B0604020202020204" pitchFamily="34" charset="0"/>
              </a:rPr>
              <a:t> Chosen as a foundational, interpretable baseline model to establish initial performance.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Random Forest Classifier:</a:t>
            </a:r>
            <a:r>
              <a:rPr kumimoji="0" lang="en-US" altLang="en-US" sz="1800" b="0" i="0" u="none" strike="noStrike" cap="none" normalizeH="0" baseline="0" dirty="0">
                <a:ln>
                  <a:noFill/>
                </a:ln>
                <a:solidFill>
                  <a:schemeClr val="tx1"/>
                </a:solidFill>
                <a:effectLst/>
                <a:latin typeface="Arial" panose="020B0604020202020204" pitchFamily="34" charset="0"/>
              </a:rPr>
              <a:t> An ensemble learning method, known for its high accuracy and ability to handle complex, non-linear relationships and feature interactions effectively.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K-Nearest Neighbors (KNN):</a:t>
            </a:r>
            <a:r>
              <a:rPr kumimoji="0" lang="en-US" altLang="en-US" sz="1800" b="0" i="0" u="none" strike="noStrike" cap="none" normalizeH="0" baseline="0" dirty="0">
                <a:ln>
                  <a:noFill/>
                </a:ln>
                <a:solidFill>
                  <a:schemeClr val="tx1"/>
                </a:solidFill>
                <a:effectLst/>
                <a:latin typeface="Arial" panose="020B0604020202020204" pitchFamily="34" charset="0"/>
              </a:rPr>
              <a:t> A simple, non-parametric, instance-based learning algorithm that classifies data points based on the majority class of their nearest neighbors.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5. Deployment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demonstrate the practical application of the trained model, an interactive web application was developed using </a:t>
            </a:r>
            <a:r>
              <a:rPr kumimoji="0" lang="en-US" altLang="en-US" sz="1800" b="1"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This application allows users to upload a CSV file for batch prediction, showcasing how the model can be used to predict income levels for new employee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86851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A8C4B-E83D-0C63-7F46-ACE828D7E60E}"/>
              </a:ext>
            </a:extLst>
          </p:cNvPr>
          <p:cNvSpPr>
            <a:spLocks noGrp="1"/>
          </p:cNvSpPr>
          <p:nvPr>
            <p:ph type="title"/>
          </p:nvPr>
        </p:nvSpPr>
        <p:spPr>
          <a:xfrm>
            <a:off x="-538313" y="571498"/>
            <a:ext cx="4300538" cy="357189"/>
          </a:xfrm>
        </p:spPr>
        <p:txBody>
          <a:bodyPr/>
          <a:lstStyle/>
          <a:p>
            <a:r>
              <a:rPr lang="en-US" dirty="0"/>
              <a:t>RESULT                                   </a:t>
            </a:r>
            <a:endParaRPr lang="en-IN" dirty="0"/>
          </a:p>
        </p:txBody>
      </p:sp>
      <p:sp>
        <p:nvSpPr>
          <p:cNvPr id="3" name="Content Placeholder 2">
            <a:extLst>
              <a:ext uri="{FF2B5EF4-FFF2-40B4-BE49-F238E27FC236}">
                <a16:creationId xmlns:a16="http://schemas.microsoft.com/office/drawing/2014/main" id="{63E373C6-B2A9-554B-0583-959B3D6A4A78}"/>
              </a:ext>
            </a:extLst>
          </p:cNvPr>
          <p:cNvSpPr>
            <a:spLocks noGrp="1"/>
          </p:cNvSpPr>
          <p:nvPr>
            <p:ph sz="quarter" idx="4"/>
          </p:nvPr>
        </p:nvSpPr>
        <p:spPr>
          <a:xfrm>
            <a:off x="247499" y="1610202"/>
            <a:ext cx="2728913" cy="3484659"/>
          </a:xfrm>
        </p:spPr>
        <p:txBody>
          <a:bodyPr/>
          <a:lstStyle/>
          <a:p>
            <a:r>
              <a:rPr lang="en-US" dirty="0"/>
              <a:t>The trained models were rigorously evaluated using a suite of classification metrics to assess their predictive performance on the unseen test data. The results are summarized below:</a:t>
            </a:r>
          </a:p>
          <a:p>
            <a:pPr marL="0" indent="0">
              <a:buNone/>
            </a:pPr>
            <a:endParaRPr lang="en-IN" dirty="0"/>
          </a:p>
          <a:p>
            <a:pPr marL="0" indent="0">
              <a:buNone/>
            </a:pPr>
            <a:endParaRPr lang="en-IN" dirty="0"/>
          </a:p>
        </p:txBody>
      </p:sp>
      <p:sp>
        <p:nvSpPr>
          <p:cNvPr id="4" name="Slide Number Placeholder 3">
            <a:extLst>
              <a:ext uri="{FF2B5EF4-FFF2-40B4-BE49-F238E27FC236}">
                <a16:creationId xmlns:a16="http://schemas.microsoft.com/office/drawing/2014/main" id="{8653A0D8-9A46-6501-8654-E7DC38CD9BC6}"/>
              </a:ext>
            </a:extLst>
          </p:cNvPr>
          <p:cNvSpPr>
            <a:spLocks noGrp="1"/>
          </p:cNvSpPr>
          <p:nvPr>
            <p:ph type="sldNum" sz="quarter" idx="10"/>
          </p:nvPr>
        </p:nvSpPr>
        <p:spPr/>
        <p:txBody>
          <a:bodyPr/>
          <a:lstStyle/>
          <a:p>
            <a:fld id="{48F63A3B-78C7-47BE-AE5E-E10140E04643}" type="slidenum">
              <a:rPr lang="en-US" smtClean="0"/>
              <a:pPr/>
              <a:t>18</a:t>
            </a:fld>
            <a:endParaRPr lang="en-US" dirty="0"/>
          </a:p>
        </p:txBody>
      </p:sp>
      <p:pic>
        <p:nvPicPr>
          <p:cNvPr id="6" name="Picture 5">
            <a:extLst>
              <a:ext uri="{FF2B5EF4-FFF2-40B4-BE49-F238E27FC236}">
                <a16:creationId xmlns:a16="http://schemas.microsoft.com/office/drawing/2014/main" id="{39D78769-8AC5-C2C1-2BA6-7F280B3EB245}"/>
              </a:ext>
            </a:extLst>
          </p:cNvPr>
          <p:cNvPicPr>
            <a:picLocks noChangeAspect="1"/>
          </p:cNvPicPr>
          <p:nvPr/>
        </p:nvPicPr>
        <p:blipFill>
          <a:blip r:embed="rId2"/>
          <a:stretch>
            <a:fillRect/>
          </a:stretch>
        </p:blipFill>
        <p:spPr>
          <a:xfrm>
            <a:off x="3350041" y="42863"/>
            <a:ext cx="4133850" cy="6619338"/>
          </a:xfrm>
          <a:prstGeom prst="rect">
            <a:avLst/>
          </a:prstGeom>
        </p:spPr>
      </p:pic>
      <p:pic>
        <p:nvPicPr>
          <p:cNvPr id="8" name="Picture 7">
            <a:extLst>
              <a:ext uri="{FF2B5EF4-FFF2-40B4-BE49-F238E27FC236}">
                <a16:creationId xmlns:a16="http://schemas.microsoft.com/office/drawing/2014/main" id="{FB183B16-9DFC-66FC-55F6-2795A5A3DB9B}"/>
              </a:ext>
            </a:extLst>
          </p:cNvPr>
          <p:cNvPicPr>
            <a:picLocks noChangeAspect="1"/>
          </p:cNvPicPr>
          <p:nvPr/>
        </p:nvPicPr>
        <p:blipFill>
          <a:blip r:embed="rId3"/>
          <a:stretch>
            <a:fillRect/>
          </a:stretch>
        </p:blipFill>
        <p:spPr>
          <a:xfrm>
            <a:off x="7610021" y="1057274"/>
            <a:ext cx="4334480" cy="4877481"/>
          </a:xfrm>
          <a:prstGeom prst="rect">
            <a:avLst/>
          </a:prstGeom>
        </p:spPr>
      </p:pic>
    </p:spTree>
    <p:extLst>
      <p:ext uri="{BB962C8B-B14F-4D97-AF65-F5344CB8AC3E}">
        <p14:creationId xmlns:p14="http://schemas.microsoft.com/office/powerpoint/2010/main" val="1366814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489F86-BAD4-CBC7-FBB3-9407EB363EB9}"/>
              </a:ext>
            </a:extLst>
          </p:cNvPr>
          <p:cNvSpPr>
            <a:spLocks noGrp="1"/>
          </p:cNvSpPr>
          <p:nvPr>
            <p:ph sz="quarter" idx="4"/>
          </p:nvPr>
        </p:nvSpPr>
        <p:spPr>
          <a:xfrm>
            <a:off x="7229475" y="771525"/>
            <a:ext cx="4196552" cy="5493099"/>
          </a:xfrm>
        </p:spPr>
        <p:txBody>
          <a:bodyPr/>
          <a:lstStyle/>
          <a:p>
            <a:r>
              <a:rPr lang="en-US" dirty="0"/>
              <a:t>The </a:t>
            </a:r>
            <a:r>
              <a:rPr lang="en-US" b="1" dirty="0"/>
              <a:t>Gradient Boosting Classifier</a:t>
            </a:r>
            <a:r>
              <a:rPr lang="en-US" dirty="0"/>
              <a:t> consistently outperformed Logistic Regression, Random Forest, and KNN across all metrics, indicating its superior ability to capture the complex patterns and make accurate predictions on this dataset. </a:t>
            </a:r>
            <a:endParaRPr lang="en-IN" dirty="0"/>
          </a:p>
        </p:txBody>
      </p:sp>
      <p:sp>
        <p:nvSpPr>
          <p:cNvPr id="4" name="Slide Number Placeholder 3">
            <a:extLst>
              <a:ext uri="{FF2B5EF4-FFF2-40B4-BE49-F238E27FC236}">
                <a16:creationId xmlns:a16="http://schemas.microsoft.com/office/drawing/2014/main" id="{2415A708-A291-3ED1-3FAE-32BF545C7B33}"/>
              </a:ext>
            </a:extLst>
          </p:cNvPr>
          <p:cNvSpPr>
            <a:spLocks noGrp="1"/>
          </p:cNvSpPr>
          <p:nvPr>
            <p:ph type="sldNum" sz="quarter" idx="10"/>
          </p:nvPr>
        </p:nvSpPr>
        <p:spPr/>
        <p:txBody>
          <a:bodyPr/>
          <a:lstStyle/>
          <a:p>
            <a:fld id="{48F63A3B-78C7-47BE-AE5E-E10140E04643}" type="slidenum">
              <a:rPr lang="en-US" smtClean="0"/>
              <a:pPr/>
              <a:t>19</a:t>
            </a:fld>
            <a:endParaRPr lang="en-US" dirty="0"/>
          </a:p>
        </p:txBody>
      </p:sp>
      <p:pic>
        <p:nvPicPr>
          <p:cNvPr id="6" name="Picture 5">
            <a:extLst>
              <a:ext uri="{FF2B5EF4-FFF2-40B4-BE49-F238E27FC236}">
                <a16:creationId xmlns:a16="http://schemas.microsoft.com/office/drawing/2014/main" id="{2FD7B178-CCD0-6E40-4A60-84803A4A2EED}"/>
              </a:ext>
            </a:extLst>
          </p:cNvPr>
          <p:cNvPicPr>
            <a:picLocks noChangeAspect="1"/>
          </p:cNvPicPr>
          <p:nvPr/>
        </p:nvPicPr>
        <p:blipFill>
          <a:blip r:embed="rId2"/>
          <a:stretch>
            <a:fillRect/>
          </a:stretch>
        </p:blipFill>
        <p:spPr>
          <a:xfrm>
            <a:off x="896961" y="771525"/>
            <a:ext cx="5525271" cy="4772691"/>
          </a:xfrm>
          <a:prstGeom prst="rect">
            <a:avLst/>
          </a:prstGeom>
        </p:spPr>
      </p:pic>
    </p:spTree>
    <p:extLst>
      <p:ext uri="{BB962C8B-B14F-4D97-AF65-F5344CB8AC3E}">
        <p14:creationId xmlns:p14="http://schemas.microsoft.com/office/powerpoint/2010/main" val="2319474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7DB5D1-4875-57FC-2DCE-D07E2148293A}"/>
              </a:ext>
            </a:extLst>
          </p:cNvPr>
          <p:cNvSpPr>
            <a:spLocks noGrp="1"/>
          </p:cNvSpPr>
          <p:nvPr>
            <p:ph type="sldNum" sz="quarter" idx="12"/>
          </p:nvPr>
        </p:nvSpPr>
        <p:spPr/>
        <p:txBody>
          <a:bodyPr/>
          <a:lstStyle/>
          <a:p>
            <a:fld id="{48F63A3B-78C7-47BE-AE5E-E10140E04643}" type="slidenum">
              <a:rPr lang="en-US" smtClean="0"/>
              <a:pPr/>
              <a:t>20</a:t>
            </a:fld>
            <a:endParaRPr lang="en-US" dirty="0"/>
          </a:p>
        </p:txBody>
      </p:sp>
      <p:pic>
        <p:nvPicPr>
          <p:cNvPr id="4" name="Picture 3">
            <a:extLst>
              <a:ext uri="{FF2B5EF4-FFF2-40B4-BE49-F238E27FC236}">
                <a16:creationId xmlns:a16="http://schemas.microsoft.com/office/drawing/2014/main" id="{ABC70F24-CD03-C6E5-C72F-053BFF202B8B}"/>
              </a:ext>
            </a:extLst>
          </p:cNvPr>
          <p:cNvPicPr>
            <a:picLocks noChangeAspect="1"/>
          </p:cNvPicPr>
          <p:nvPr/>
        </p:nvPicPr>
        <p:blipFill>
          <a:blip r:embed="rId2"/>
          <a:stretch>
            <a:fillRect/>
          </a:stretch>
        </p:blipFill>
        <p:spPr>
          <a:xfrm>
            <a:off x="1233207" y="457199"/>
            <a:ext cx="4010585" cy="2467319"/>
          </a:xfrm>
          <a:prstGeom prst="rect">
            <a:avLst/>
          </a:prstGeom>
        </p:spPr>
      </p:pic>
      <p:pic>
        <p:nvPicPr>
          <p:cNvPr id="8" name="Picture 7">
            <a:extLst>
              <a:ext uri="{FF2B5EF4-FFF2-40B4-BE49-F238E27FC236}">
                <a16:creationId xmlns:a16="http://schemas.microsoft.com/office/drawing/2014/main" id="{2E58B306-A7F7-A24C-9C4A-654380FD4095}"/>
              </a:ext>
            </a:extLst>
          </p:cNvPr>
          <p:cNvPicPr>
            <a:picLocks noChangeAspect="1"/>
          </p:cNvPicPr>
          <p:nvPr/>
        </p:nvPicPr>
        <p:blipFill>
          <a:blip r:embed="rId3"/>
          <a:stretch>
            <a:fillRect/>
          </a:stretch>
        </p:blipFill>
        <p:spPr>
          <a:xfrm>
            <a:off x="4979588" y="3557587"/>
            <a:ext cx="6595867" cy="1843088"/>
          </a:xfrm>
          <a:prstGeom prst="rect">
            <a:avLst/>
          </a:prstGeom>
        </p:spPr>
      </p:pic>
    </p:spTree>
    <p:extLst>
      <p:ext uri="{BB962C8B-B14F-4D97-AF65-F5344CB8AC3E}">
        <p14:creationId xmlns:p14="http://schemas.microsoft.com/office/powerpoint/2010/main" val="3716208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D9AA7BE-9495-5156-42E3-77FF96F761D3}"/>
              </a:ext>
            </a:extLst>
          </p:cNvPr>
          <p:cNvSpPr>
            <a:spLocks noGrp="1"/>
          </p:cNvSpPr>
          <p:nvPr>
            <p:ph type="sldNum" sz="quarter" idx="10"/>
          </p:nvPr>
        </p:nvSpPr>
        <p:spPr/>
        <p:txBody>
          <a:bodyPr/>
          <a:lstStyle/>
          <a:p>
            <a:fld id="{48F63A3B-78C7-47BE-AE5E-E10140E04643}" type="slidenum">
              <a:rPr lang="en-US" smtClean="0"/>
              <a:pPr/>
              <a:t>21</a:t>
            </a:fld>
            <a:endParaRPr lang="en-US" dirty="0"/>
          </a:p>
        </p:txBody>
      </p:sp>
      <p:pic>
        <p:nvPicPr>
          <p:cNvPr id="6" name="Picture 5">
            <a:extLst>
              <a:ext uri="{FF2B5EF4-FFF2-40B4-BE49-F238E27FC236}">
                <a16:creationId xmlns:a16="http://schemas.microsoft.com/office/drawing/2014/main" id="{9F6B62AB-A9E7-E6CA-30AB-87D185A61699}"/>
              </a:ext>
            </a:extLst>
          </p:cNvPr>
          <p:cNvPicPr>
            <a:picLocks noChangeAspect="1"/>
          </p:cNvPicPr>
          <p:nvPr/>
        </p:nvPicPr>
        <p:blipFill>
          <a:blip r:embed="rId2"/>
          <a:stretch>
            <a:fillRect/>
          </a:stretch>
        </p:blipFill>
        <p:spPr>
          <a:xfrm>
            <a:off x="154494" y="1257135"/>
            <a:ext cx="11883011" cy="4915066"/>
          </a:xfrm>
          <a:prstGeom prst="rect">
            <a:avLst/>
          </a:prstGeom>
        </p:spPr>
      </p:pic>
    </p:spTree>
    <p:extLst>
      <p:ext uri="{BB962C8B-B14F-4D97-AF65-F5344CB8AC3E}">
        <p14:creationId xmlns:p14="http://schemas.microsoft.com/office/powerpoint/2010/main" val="925361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CC566B-44BF-7140-66B4-0F5A684963D2}"/>
              </a:ext>
            </a:extLst>
          </p:cNvPr>
          <p:cNvSpPr>
            <a:spLocks noGrp="1"/>
          </p:cNvSpPr>
          <p:nvPr>
            <p:ph type="sldNum" sz="quarter" idx="12"/>
          </p:nvPr>
        </p:nvSpPr>
        <p:spPr/>
        <p:txBody>
          <a:bodyPr/>
          <a:lstStyle/>
          <a:p>
            <a:fld id="{48F63A3B-78C7-47BE-AE5E-E10140E04643}" type="slidenum">
              <a:rPr lang="en-US" smtClean="0"/>
              <a:pPr/>
              <a:t>22</a:t>
            </a:fld>
            <a:endParaRPr lang="en-US" dirty="0"/>
          </a:p>
        </p:txBody>
      </p:sp>
      <p:pic>
        <p:nvPicPr>
          <p:cNvPr id="4" name="Picture 3">
            <a:extLst>
              <a:ext uri="{FF2B5EF4-FFF2-40B4-BE49-F238E27FC236}">
                <a16:creationId xmlns:a16="http://schemas.microsoft.com/office/drawing/2014/main" id="{67BFA578-C113-3AF3-A123-73ED701467E6}"/>
              </a:ext>
            </a:extLst>
          </p:cNvPr>
          <p:cNvPicPr>
            <a:picLocks noChangeAspect="1"/>
          </p:cNvPicPr>
          <p:nvPr/>
        </p:nvPicPr>
        <p:blipFill>
          <a:blip r:embed="rId2"/>
          <a:stretch>
            <a:fillRect/>
          </a:stretch>
        </p:blipFill>
        <p:spPr>
          <a:xfrm>
            <a:off x="0" y="218740"/>
            <a:ext cx="6134956" cy="4791744"/>
          </a:xfrm>
          <a:prstGeom prst="rect">
            <a:avLst/>
          </a:prstGeom>
        </p:spPr>
      </p:pic>
      <p:pic>
        <p:nvPicPr>
          <p:cNvPr id="6" name="Picture 5">
            <a:extLst>
              <a:ext uri="{FF2B5EF4-FFF2-40B4-BE49-F238E27FC236}">
                <a16:creationId xmlns:a16="http://schemas.microsoft.com/office/drawing/2014/main" id="{7FA8F09E-F3F9-376A-7ABF-ECCBBF0C9BB5}"/>
              </a:ext>
            </a:extLst>
          </p:cNvPr>
          <p:cNvPicPr>
            <a:picLocks noChangeAspect="1"/>
          </p:cNvPicPr>
          <p:nvPr/>
        </p:nvPicPr>
        <p:blipFill>
          <a:blip r:embed="rId3"/>
          <a:stretch>
            <a:fillRect/>
          </a:stretch>
        </p:blipFill>
        <p:spPr>
          <a:xfrm>
            <a:off x="6343650" y="579450"/>
            <a:ext cx="5701169" cy="4201297"/>
          </a:xfrm>
          <a:prstGeom prst="rect">
            <a:avLst/>
          </a:prstGeom>
        </p:spPr>
      </p:pic>
    </p:spTree>
    <p:extLst>
      <p:ext uri="{BB962C8B-B14F-4D97-AF65-F5344CB8AC3E}">
        <p14:creationId xmlns:p14="http://schemas.microsoft.com/office/powerpoint/2010/main" val="816830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31EE23-B581-1A77-BEE6-880484B55575}"/>
              </a:ext>
            </a:extLst>
          </p:cNvPr>
          <p:cNvSpPr>
            <a:spLocks noGrp="1"/>
          </p:cNvSpPr>
          <p:nvPr>
            <p:ph type="sldNum" sz="quarter" idx="12"/>
          </p:nvPr>
        </p:nvSpPr>
        <p:spPr/>
        <p:txBody>
          <a:bodyPr/>
          <a:lstStyle/>
          <a:p>
            <a:fld id="{48F63A3B-78C7-47BE-AE5E-E10140E04643}" type="slidenum">
              <a:rPr lang="en-US" smtClean="0"/>
              <a:pPr/>
              <a:t>23</a:t>
            </a:fld>
            <a:endParaRPr lang="en-US" dirty="0"/>
          </a:p>
        </p:txBody>
      </p:sp>
      <p:pic>
        <p:nvPicPr>
          <p:cNvPr id="4" name="Picture 3">
            <a:extLst>
              <a:ext uri="{FF2B5EF4-FFF2-40B4-BE49-F238E27FC236}">
                <a16:creationId xmlns:a16="http://schemas.microsoft.com/office/drawing/2014/main" id="{091E5799-1DCF-25F0-DB50-69820C6A4124}"/>
              </a:ext>
            </a:extLst>
          </p:cNvPr>
          <p:cNvPicPr>
            <a:picLocks noChangeAspect="1"/>
          </p:cNvPicPr>
          <p:nvPr/>
        </p:nvPicPr>
        <p:blipFill>
          <a:blip r:embed="rId2"/>
          <a:stretch>
            <a:fillRect/>
          </a:stretch>
        </p:blipFill>
        <p:spPr>
          <a:xfrm>
            <a:off x="118818" y="109433"/>
            <a:ext cx="3496163" cy="1495634"/>
          </a:xfrm>
          <a:prstGeom prst="rect">
            <a:avLst/>
          </a:prstGeom>
        </p:spPr>
      </p:pic>
      <p:pic>
        <p:nvPicPr>
          <p:cNvPr id="6" name="Picture 5">
            <a:extLst>
              <a:ext uri="{FF2B5EF4-FFF2-40B4-BE49-F238E27FC236}">
                <a16:creationId xmlns:a16="http://schemas.microsoft.com/office/drawing/2014/main" id="{5A9CC6CE-304F-1A6B-069E-E42F38025508}"/>
              </a:ext>
            </a:extLst>
          </p:cNvPr>
          <p:cNvPicPr>
            <a:picLocks noChangeAspect="1"/>
          </p:cNvPicPr>
          <p:nvPr/>
        </p:nvPicPr>
        <p:blipFill>
          <a:blip r:embed="rId3"/>
          <a:stretch>
            <a:fillRect/>
          </a:stretch>
        </p:blipFill>
        <p:spPr>
          <a:xfrm>
            <a:off x="1" y="1605067"/>
            <a:ext cx="5149204" cy="3438421"/>
          </a:xfrm>
          <a:prstGeom prst="rect">
            <a:avLst/>
          </a:prstGeom>
        </p:spPr>
      </p:pic>
      <p:pic>
        <p:nvPicPr>
          <p:cNvPr id="8" name="Picture 7">
            <a:extLst>
              <a:ext uri="{FF2B5EF4-FFF2-40B4-BE49-F238E27FC236}">
                <a16:creationId xmlns:a16="http://schemas.microsoft.com/office/drawing/2014/main" id="{248C961A-3DA4-631A-22E7-A1CA6AF2E140}"/>
              </a:ext>
            </a:extLst>
          </p:cNvPr>
          <p:cNvPicPr>
            <a:picLocks noChangeAspect="1"/>
          </p:cNvPicPr>
          <p:nvPr/>
        </p:nvPicPr>
        <p:blipFill>
          <a:blip r:embed="rId4"/>
          <a:stretch>
            <a:fillRect/>
          </a:stretch>
        </p:blipFill>
        <p:spPr>
          <a:xfrm>
            <a:off x="5681017" y="1128167"/>
            <a:ext cx="5792008" cy="3915321"/>
          </a:xfrm>
          <a:prstGeom prst="rect">
            <a:avLst/>
          </a:prstGeom>
        </p:spPr>
      </p:pic>
    </p:spTree>
    <p:extLst>
      <p:ext uri="{BB962C8B-B14F-4D97-AF65-F5344CB8AC3E}">
        <p14:creationId xmlns:p14="http://schemas.microsoft.com/office/powerpoint/2010/main" val="3327112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1286D3-5098-BCA3-E834-0B6165F23F83}"/>
              </a:ext>
            </a:extLst>
          </p:cNvPr>
          <p:cNvSpPr>
            <a:spLocks noGrp="1"/>
          </p:cNvSpPr>
          <p:nvPr>
            <p:ph type="sldNum" sz="quarter" idx="12"/>
          </p:nvPr>
        </p:nvSpPr>
        <p:spPr/>
        <p:txBody>
          <a:bodyPr/>
          <a:lstStyle/>
          <a:p>
            <a:fld id="{48F63A3B-78C7-47BE-AE5E-E10140E04643}" type="slidenum">
              <a:rPr lang="en-US" smtClean="0"/>
              <a:pPr/>
              <a:t>24</a:t>
            </a:fld>
            <a:endParaRPr lang="en-US" dirty="0"/>
          </a:p>
        </p:txBody>
      </p:sp>
      <p:pic>
        <p:nvPicPr>
          <p:cNvPr id="4" name="Picture 3">
            <a:extLst>
              <a:ext uri="{FF2B5EF4-FFF2-40B4-BE49-F238E27FC236}">
                <a16:creationId xmlns:a16="http://schemas.microsoft.com/office/drawing/2014/main" id="{B6151636-A0B3-E545-CD12-015C310B50B9}"/>
              </a:ext>
            </a:extLst>
          </p:cNvPr>
          <p:cNvPicPr>
            <a:picLocks noChangeAspect="1"/>
          </p:cNvPicPr>
          <p:nvPr/>
        </p:nvPicPr>
        <p:blipFill>
          <a:blip r:embed="rId2"/>
          <a:stretch>
            <a:fillRect/>
          </a:stretch>
        </p:blipFill>
        <p:spPr>
          <a:xfrm>
            <a:off x="204408" y="579450"/>
            <a:ext cx="5439534" cy="3867690"/>
          </a:xfrm>
          <a:prstGeom prst="rect">
            <a:avLst/>
          </a:prstGeom>
        </p:spPr>
      </p:pic>
      <p:pic>
        <p:nvPicPr>
          <p:cNvPr id="6" name="Picture 5">
            <a:extLst>
              <a:ext uri="{FF2B5EF4-FFF2-40B4-BE49-F238E27FC236}">
                <a16:creationId xmlns:a16="http://schemas.microsoft.com/office/drawing/2014/main" id="{CF9FEC46-3B05-BDCB-4BBA-CCF60DFF8F6E}"/>
              </a:ext>
            </a:extLst>
          </p:cNvPr>
          <p:cNvPicPr>
            <a:picLocks noChangeAspect="1"/>
          </p:cNvPicPr>
          <p:nvPr/>
        </p:nvPicPr>
        <p:blipFill>
          <a:blip r:embed="rId3"/>
          <a:stretch>
            <a:fillRect/>
          </a:stretch>
        </p:blipFill>
        <p:spPr>
          <a:xfrm>
            <a:off x="6095999" y="701702"/>
            <a:ext cx="5534797" cy="4067743"/>
          </a:xfrm>
          <a:prstGeom prst="rect">
            <a:avLst/>
          </a:prstGeom>
        </p:spPr>
      </p:pic>
    </p:spTree>
    <p:extLst>
      <p:ext uri="{BB962C8B-B14F-4D97-AF65-F5344CB8AC3E}">
        <p14:creationId xmlns:p14="http://schemas.microsoft.com/office/powerpoint/2010/main" val="1271792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5EFBF-7017-6683-AC1A-D67C7F8D6E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FE31FEF-0EBB-2B21-DA20-2491D2836A59}"/>
              </a:ext>
            </a:extLst>
          </p:cNvPr>
          <p:cNvSpPr>
            <a:spLocks noGrp="1"/>
          </p:cNvSpPr>
          <p:nvPr>
            <p:ph sz="quarter" idx="4"/>
          </p:nvPr>
        </p:nvSpPr>
        <p:spPr/>
        <p:txBody>
          <a:bodyPr/>
          <a:lstStyle/>
          <a:p>
            <a:endParaRPr lang="en-US" dirty="0"/>
          </a:p>
          <a:p>
            <a:endParaRPr lang="en-IN" dirty="0"/>
          </a:p>
          <a:p>
            <a:endParaRPr lang="en-IN" dirty="0"/>
          </a:p>
          <a:p>
            <a:endParaRPr lang="en-IN" dirty="0"/>
          </a:p>
          <a:p>
            <a:r>
              <a:rPr lang="en-IN" dirty="0"/>
              <a:t>https://github.com/shreya-vashishth/EMPLOYEE-SALARY-PREDICTION-SHREYA-SHARMA.git</a:t>
            </a:r>
          </a:p>
        </p:txBody>
      </p:sp>
      <p:sp>
        <p:nvSpPr>
          <p:cNvPr id="4" name="Slide Number Placeholder 3">
            <a:extLst>
              <a:ext uri="{FF2B5EF4-FFF2-40B4-BE49-F238E27FC236}">
                <a16:creationId xmlns:a16="http://schemas.microsoft.com/office/drawing/2014/main" id="{0D5F562D-2CB5-1555-8195-5780FAE1CC6F}"/>
              </a:ext>
            </a:extLst>
          </p:cNvPr>
          <p:cNvSpPr>
            <a:spLocks noGrp="1"/>
          </p:cNvSpPr>
          <p:nvPr>
            <p:ph type="sldNum" sz="quarter" idx="10"/>
          </p:nvPr>
        </p:nvSpPr>
        <p:spPr/>
        <p:txBody>
          <a:bodyPr/>
          <a:lstStyle/>
          <a:p>
            <a:fld id="{48F63A3B-78C7-47BE-AE5E-E10140E04643}" type="slidenum">
              <a:rPr lang="en-US" smtClean="0"/>
              <a:pPr/>
              <a:t>25</a:t>
            </a:fld>
            <a:endParaRPr lang="en-US" dirty="0"/>
          </a:p>
        </p:txBody>
      </p:sp>
      <p:pic>
        <p:nvPicPr>
          <p:cNvPr id="6" name="Picture 5">
            <a:extLst>
              <a:ext uri="{FF2B5EF4-FFF2-40B4-BE49-F238E27FC236}">
                <a16:creationId xmlns:a16="http://schemas.microsoft.com/office/drawing/2014/main" id="{EFC03890-BAE7-364F-05E3-93BCBBFD870B}"/>
              </a:ext>
            </a:extLst>
          </p:cNvPr>
          <p:cNvPicPr>
            <a:picLocks noChangeAspect="1"/>
          </p:cNvPicPr>
          <p:nvPr/>
        </p:nvPicPr>
        <p:blipFill>
          <a:blip r:embed="rId2"/>
          <a:stretch>
            <a:fillRect/>
          </a:stretch>
        </p:blipFill>
        <p:spPr>
          <a:xfrm>
            <a:off x="914400" y="593376"/>
            <a:ext cx="10139498" cy="2362304"/>
          </a:xfrm>
          <a:prstGeom prst="rect">
            <a:avLst/>
          </a:prstGeom>
        </p:spPr>
      </p:pic>
    </p:spTree>
    <p:extLst>
      <p:ext uri="{BB962C8B-B14F-4D97-AF65-F5344CB8AC3E}">
        <p14:creationId xmlns:p14="http://schemas.microsoft.com/office/powerpoint/2010/main" val="2812219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1BF48-272F-B899-2A54-1DBE6B19AEE4}"/>
              </a:ext>
            </a:extLst>
          </p:cNvPr>
          <p:cNvSpPr>
            <a:spLocks noGrp="1"/>
          </p:cNvSpPr>
          <p:nvPr>
            <p:ph type="title"/>
          </p:nvPr>
        </p:nvSpPr>
        <p:spPr/>
        <p:txBody>
          <a:bodyPr/>
          <a:lstStyle/>
          <a:p>
            <a:r>
              <a:rPr lang="en-US" dirty="0"/>
              <a:t>CONCLUSIONS</a:t>
            </a:r>
            <a:endParaRPr lang="en-IN" dirty="0"/>
          </a:p>
        </p:txBody>
      </p:sp>
      <p:sp>
        <p:nvSpPr>
          <p:cNvPr id="4" name="Slide Number Placeholder 3">
            <a:extLst>
              <a:ext uri="{FF2B5EF4-FFF2-40B4-BE49-F238E27FC236}">
                <a16:creationId xmlns:a16="http://schemas.microsoft.com/office/drawing/2014/main" id="{6F929680-A80E-8299-0147-98A448FC94CF}"/>
              </a:ext>
            </a:extLst>
          </p:cNvPr>
          <p:cNvSpPr>
            <a:spLocks noGrp="1"/>
          </p:cNvSpPr>
          <p:nvPr>
            <p:ph type="sldNum" sz="quarter" idx="10"/>
          </p:nvPr>
        </p:nvSpPr>
        <p:spPr/>
        <p:txBody>
          <a:bodyPr/>
          <a:lstStyle/>
          <a:p>
            <a:fld id="{48F63A3B-78C7-47BE-AE5E-E10140E04643}" type="slidenum">
              <a:rPr lang="en-US" smtClean="0"/>
              <a:pPr/>
              <a:t>26</a:t>
            </a:fld>
            <a:endParaRPr lang="en-US" dirty="0"/>
          </a:p>
        </p:txBody>
      </p:sp>
      <p:sp>
        <p:nvSpPr>
          <p:cNvPr id="5" name="Rectangle 1">
            <a:extLst>
              <a:ext uri="{FF2B5EF4-FFF2-40B4-BE49-F238E27FC236}">
                <a16:creationId xmlns:a16="http://schemas.microsoft.com/office/drawing/2014/main" id="{9AAD0F7B-CA7D-57F3-2C9F-A8D6EDFA83F0}"/>
              </a:ext>
            </a:extLst>
          </p:cNvPr>
          <p:cNvSpPr>
            <a:spLocks noGrp="1" noChangeArrowheads="1"/>
          </p:cNvSpPr>
          <p:nvPr>
            <p:ph sz="quarter" idx="4"/>
          </p:nvPr>
        </p:nvSpPr>
        <p:spPr bwMode="auto">
          <a:xfrm>
            <a:off x="914400" y="2316067"/>
            <a:ext cx="9335729" cy="3948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project successfully developed and evaluated machine learning models for employee salary (income bracket) prediction using the Adult Income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Gradient Boosting Classifier</a:t>
            </a:r>
            <a:r>
              <a:rPr kumimoji="0" lang="en-US" altLang="en-US" sz="1800" b="0" i="0" u="none" strike="noStrike" cap="none" normalizeH="0" baseline="0" dirty="0">
                <a:ln>
                  <a:noFill/>
                </a:ln>
                <a:solidFill>
                  <a:schemeClr val="tx1"/>
                </a:solidFill>
                <a:effectLst/>
                <a:latin typeface="Arial" panose="020B0604020202020204" pitchFamily="34" charset="0"/>
              </a:rPr>
              <a:t> demonstrated the highest predictive accuracy and robustness, effectively classifying individuals into income categories based on their attributes, leveraging its ability to build strong predictive models iteratively.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process highlighted the critical importance of meticulous data preprocessing, including handling missing values, encoding categorical features, and managing outliers, to build effective predictive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Challenges encountered included the initial data cleaning of '?' values and selecting appropriate encoding strategies for diverse categorical features. These were addressed through systematic data transformation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developed </a:t>
            </a:r>
            <a:r>
              <a:rPr kumimoji="0" lang="en-US" altLang="en-US" sz="1800" b="1" i="0" u="none" strike="noStrike" cap="none" normalizeH="0" baseline="0" dirty="0">
                <a:ln>
                  <a:noFill/>
                </a:ln>
                <a:solidFill>
                  <a:schemeClr val="tx1"/>
                </a:solidFill>
                <a:effectLst/>
                <a:latin typeface="Arial" panose="020B0604020202020204" pitchFamily="34" charset="0"/>
              </a:rPr>
              <a:t>Gradient Boosting</a:t>
            </a:r>
            <a:r>
              <a:rPr kumimoji="0" lang="en-US" altLang="en-US" sz="1800" b="0" i="0" u="none" strike="noStrike" cap="none" normalizeH="0" baseline="0" dirty="0">
                <a:ln>
                  <a:noFill/>
                </a:ln>
                <a:solidFill>
                  <a:schemeClr val="tx1"/>
                </a:solidFill>
                <a:effectLst/>
                <a:latin typeface="Arial" panose="020B0604020202020204" pitchFamily="34" charset="0"/>
              </a:rPr>
              <a:t> model provides valuable insights into the factors influencing income levels, offering a data-driven tool for compensation analysis and career guidance.</a:t>
            </a:r>
          </a:p>
        </p:txBody>
      </p:sp>
    </p:spTree>
    <p:extLst>
      <p:ext uri="{BB962C8B-B14F-4D97-AF65-F5344CB8AC3E}">
        <p14:creationId xmlns:p14="http://schemas.microsoft.com/office/powerpoint/2010/main" val="1908681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72FC7-5C52-74EB-2E44-9B5AE83443FE}"/>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00D96CB1-F2D7-44E3-A7A2-E46007F4F13B}"/>
              </a:ext>
            </a:extLst>
          </p:cNvPr>
          <p:cNvSpPr>
            <a:spLocks noGrp="1"/>
          </p:cNvSpPr>
          <p:nvPr>
            <p:ph sz="quarter" idx="4"/>
          </p:nvPr>
        </p:nvSpPr>
        <p:spPr/>
        <p:txBody>
          <a:bodyPr/>
          <a:lstStyle/>
          <a:p>
            <a:r>
              <a:rPr lang="en-IN" dirty="0">
                <a:hlinkClick r:id="rId2"/>
              </a:rPr>
              <a:t>https://colab.research.google.com/drive/12misWauTsYh0lEk4THN-_Vw4k_TzYZlh#scrollTo=KCP5-6txn4H7</a:t>
            </a:r>
            <a:endParaRPr lang="en-IN" dirty="0"/>
          </a:p>
          <a:p>
            <a:r>
              <a:rPr lang="en-IN" dirty="0">
                <a:hlinkClick r:id="rId3"/>
              </a:rPr>
              <a:t>https://ngrok.com</a:t>
            </a:r>
            <a:endParaRPr lang="en-IN" dirty="0"/>
          </a:p>
          <a:p>
            <a:r>
              <a:rPr lang="en-IN" dirty="0">
                <a:hlinkClick r:id="rId4"/>
              </a:rPr>
              <a:t>https://scikit-learn.org/stable/</a:t>
            </a:r>
            <a:endParaRPr lang="en-IN" dirty="0"/>
          </a:p>
          <a:p>
            <a:r>
              <a:rPr lang="en-IN" dirty="0"/>
              <a:t>https://skills.yourlearning.ibm.com/activity/PLAN-8A48645196FA</a:t>
            </a:r>
          </a:p>
        </p:txBody>
      </p:sp>
      <p:sp>
        <p:nvSpPr>
          <p:cNvPr id="4" name="Slide Number Placeholder 3">
            <a:extLst>
              <a:ext uri="{FF2B5EF4-FFF2-40B4-BE49-F238E27FC236}">
                <a16:creationId xmlns:a16="http://schemas.microsoft.com/office/drawing/2014/main" id="{3781FA3A-68C4-2F35-8D6F-DB813574400E}"/>
              </a:ext>
            </a:extLst>
          </p:cNvPr>
          <p:cNvSpPr>
            <a:spLocks noGrp="1"/>
          </p:cNvSpPr>
          <p:nvPr>
            <p:ph type="sldNum" sz="quarter" idx="10"/>
          </p:nvPr>
        </p:nvSpPr>
        <p:spPr/>
        <p:txBody>
          <a:bodyPr/>
          <a:lstStyle/>
          <a:p>
            <a:fld id="{48F63A3B-78C7-47BE-AE5E-E10140E04643}" type="slidenum">
              <a:rPr lang="en-US" smtClean="0"/>
              <a:pPr/>
              <a:t>27</a:t>
            </a:fld>
            <a:endParaRPr lang="en-US" dirty="0"/>
          </a:p>
        </p:txBody>
      </p:sp>
    </p:spTree>
    <p:extLst>
      <p:ext uri="{BB962C8B-B14F-4D97-AF65-F5344CB8AC3E}">
        <p14:creationId xmlns:p14="http://schemas.microsoft.com/office/powerpoint/2010/main" val="867080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{AC3D7061-D315-4FEF-AE09-AE34F5FFF4E4}tf78438558_win32</Template>
  <TotalTime>1915</TotalTime>
  <Words>1625</Words>
  <Application>Microsoft Office PowerPoint</Application>
  <PresentationFormat>Widescreen</PresentationFormat>
  <Paragraphs>115</Paragraphs>
  <Slides>28</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Arial Black</vt:lpstr>
      <vt:lpstr>Bahnschrift SemiCondensed</vt:lpstr>
      <vt:lpstr>Calibri</vt:lpstr>
      <vt:lpstr>Sabon Next LT</vt:lpstr>
      <vt:lpstr>Custom</vt:lpstr>
      <vt:lpstr>CAPSTONE PROJECT  EMPLOYEE SALARY PREDICTION USING AI/ML ALGORITHMS</vt:lpstr>
      <vt:lpstr>OUTLINE</vt:lpstr>
      <vt:lpstr>Problem statement</vt:lpstr>
      <vt:lpstr>System  Approach</vt:lpstr>
      <vt:lpstr>SYSTEM REQUIREMENTS </vt:lpstr>
      <vt:lpstr>LIBRARIES USED</vt:lpstr>
      <vt:lpstr>PowerPoint Presentation</vt:lpstr>
      <vt:lpstr>PowerPoint Presentation</vt:lpstr>
      <vt:lpstr>PowerPoint Presentation</vt:lpstr>
      <vt:lpstr>PowerPoint Presentation</vt:lpstr>
      <vt:lpstr>ALGORITHM AND DEPLOYMENT</vt:lpstr>
      <vt:lpstr>PowerPoint Presentation</vt:lpstr>
      <vt:lpstr>PowerPoint Presentation</vt:lpstr>
      <vt:lpstr>PowerPoint Presentation</vt:lpstr>
      <vt:lpstr>PowerPoint Presentation</vt:lpstr>
      <vt:lpstr>PowerPoint Presentation</vt:lpstr>
      <vt:lpstr>PowerPoint Presentation</vt:lpstr>
      <vt:lpstr>RESULT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shreya s</dc:creator>
  <cp:lastModifiedBy>shreya s</cp:lastModifiedBy>
  <cp:revision>2</cp:revision>
  <dcterms:created xsi:type="dcterms:W3CDTF">2025-07-21T11:28:17Z</dcterms:created>
  <dcterms:modified xsi:type="dcterms:W3CDTF">2025-07-23T06:24:06Z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